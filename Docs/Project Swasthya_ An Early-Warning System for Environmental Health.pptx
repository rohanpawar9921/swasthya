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Gelasi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/>
        </p:nvSpPr>
        <p:spPr>
          <a:xfrm>
            <a:off x="1075038" y="889686"/>
            <a:ext cx="12761573" cy="3755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lang="en-US" sz="4450" b="0" i="0" u="none" strike="noStrike" cap="none" dirty="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Project </a:t>
            </a:r>
            <a:r>
              <a:rPr lang="en-US" sz="4450" b="0" i="0" u="none" strike="noStrike" cap="none" dirty="0" err="1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Swasthya</a:t>
            </a:r>
            <a:r>
              <a:rPr lang="en-US" sz="4450" b="0" i="0" u="none" strike="noStrike" cap="none" dirty="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: An Early-Warning System for Environmental Health</a:t>
            </a:r>
            <a:endParaRPr sz="4450" b="0" i="0" u="none" strike="noStrike" cap="none" dirty="0"/>
          </a:p>
        </p:txBody>
      </p:sp>
      <p:sp>
        <p:nvSpPr>
          <p:cNvPr id="48" name="Google Shape;48;p13"/>
          <p:cNvSpPr/>
          <p:nvPr/>
        </p:nvSpPr>
        <p:spPr>
          <a:xfrm>
            <a:off x="1754660" y="2669059"/>
            <a:ext cx="12081952" cy="3041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 dirty="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Bridging the gap between pollution and public health through data-driven intelligence.</a:t>
            </a: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8BEE41-B0C9-CF57-D54B-B2C32ECE1EBF}"/>
              </a:ext>
            </a:extLst>
          </p:cNvPr>
          <p:cNvSpPr txBox="1"/>
          <p:nvPr/>
        </p:nvSpPr>
        <p:spPr>
          <a:xfrm>
            <a:off x="3410465" y="234778"/>
            <a:ext cx="2088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Gelasio" panose="020B0604020202020204" charset="0"/>
                <a:cs typeface="Gelasio" panose="020B0604020202020204" charset="0"/>
              </a:rPr>
              <a:t>Gelasio</a:t>
            </a:r>
          </a:p>
        </p:txBody>
      </p:sp>
    </p:spTree>
    <p:extLst>
      <p:ext uri="{BB962C8B-B14F-4D97-AF65-F5344CB8AC3E}">
        <p14:creationId xmlns:p14="http://schemas.microsoft.com/office/powerpoint/2010/main" val="78318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793790" y="1663779"/>
            <a:ext cx="8625721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lang="en-US" sz="4450" dirty="0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Objectives</a:t>
            </a:r>
            <a:endParaRPr sz="4450" dirty="0">
              <a:solidFill>
                <a:srgbClr val="D8B6A4"/>
              </a:solidFill>
              <a:latin typeface="Gelasio"/>
              <a:ea typeface="Gelasio"/>
              <a:cs typeface="Gelasio"/>
              <a:sym typeface="Gelasio"/>
            </a:endParaRPr>
          </a:p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endParaRPr sz="4450" dirty="0">
              <a:solidFill>
                <a:srgbClr val="D8B6A4"/>
              </a:solidFill>
              <a:latin typeface="Gelasio"/>
              <a:ea typeface="Gelasio"/>
              <a:cs typeface="Gelasio"/>
              <a:sym typeface="Gelasio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1020604" y="255912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Current public health systems face three fundamental challenges that prevent effective environmental health management:</a:t>
            </a:r>
            <a:endParaRPr sz="1750" b="0" i="0" u="none" strike="noStrike" cap="none"/>
          </a:p>
        </p:txBody>
      </p:sp>
      <p:sp>
        <p:nvSpPr>
          <p:cNvPr id="56" name="Google Shape;56;p14"/>
          <p:cNvSpPr/>
          <p:nvPr/>
        </p:nvSpPr>
        <p:spPr>
          <a:xfrm>
            <a:off x="793790" y="3444240"/>
            <a:ext cx="4196358" cy="3121462"/>
          </a:xfrm>
          <a:prstGeom prst="roundRect">
            <a:avLst>
              <a:gd name="adj" fmla="val 1090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1020604" y="367105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 dirty="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 Hyper-Local Data</a:t>
            </a:r>
            <a:endParaRPr sz="2200" b="0" i="0" u="none" strike="noStrike" cap="none" dirty="0"/>
          </a:p>
        </p:txBody>
      </p:sp>
      <p:sp>
        <p:nvSpPr>
          <p:cNvPr id="58" name="Google Shape;58;p14"/>
          <p:cNvSpPr/>
          <p:nvPr/>
        </p:nvSpPr>
        <p:spPr>
          <a:xfrm>
            <a:off x="1020604" y="4161472"/>
            <a:ext cx="3742730" cy="217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 dirty="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Pollution monitoring lacks granularity. Officials cannot track PM2.5 and NO₂ levels at </a:t>
            </a:r>
            <a:r>
              <a:rPr lang="en-US" sz="1750" b="0" i="0" u="none" strike="noStrike" cap="none" dirty="0" err="1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neighbourhood</a:t>
            </a:r>
            <a:r>
              <a:rPr lang="en-US" sz="1750" b="0" i="0" u="none" strike="noStrike" cap="none" dirty="0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scale, leaving vulnerable communities unprotected.</a:t>
            </a:r>
            <a:endParaRPr sz="1750" b="0" i="0" u="none" strike="noStrike" cap="none" dirty="0"/>
          </a:p>
        </p:txBody>
      </p:sp>
      <p:sp>
        <p:nvSpPr>
          <p:cNvPr id="59" name="Google Shape;59;p14"/>
          <p:cNvSpPr/>
          <p:nvPr/>
        </p:nvSpPr>
        <p:spPr>
          <a:xfrm>
            <a:off x="5216962" y="3444240"/>
            <a:ext cx="4196358" cy="3121462"/>
          </a:xfrm>
          <a:prstGeom prst="roundRect">
            <a:avLst>
              <a:gd name="adj" fmla="val 1090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5443776" y="3671054"/>
            <a:ext cx="3742730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No Real-Time Health Tracking</a:t>
            </a:r>
            <a:endParaRPr sz="2200" b="0" i="0" u="none" strike="noStrike" cap="none"/>
          </a:p>
        </p:txBody>
      </p:sp>
      <p:sp>
        <p:nvSpPr>
          <p:cNvPr id="61" name="Google Shape;61;p14"/>
          <p:cNvSpPr/>
          <p:nvPr/>
        </p:nvSpPr>
        <p:spPr>
          <a:xfrm>
            <a:off x="5443776" y="4515803"/>
            <a:ext cx="3742730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Community health data arrives too late. By the time patterns emerge, the damage is already done to public health.</a:t>
            </a:r>
            <a:endParaRPr sz="1750" b="0" i="0" u="none" strike="noStrike" cap="none"/>
          </a:p>
        </p:txBody>
      </p:sp>
      <p:sp>
        <p:nvSpPr>
          <p:cNvPr id="62" name="Google Shape;62;p14"/>
          <p:cNvSpPr/>
          <p:nvPr/>
        </p:nvSpPr>
        <p:spPr>
          <a:xfrm>
            <a:off x="9640133" y="3444240"/>
            <a:ext cx="4196358" cy="3121462"/>
          </a:xfrm>
          <a:prstGeom prst="roundRect">
            <a:avLst>
              <a:gd name="adj" fmla="val 1090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9866948" y="3671054"/>
            <a:ext cx="3742730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Reactive Rather Than Proactive</a:t>
            </a:r>
            <a:endParaRPr sz="2200" b="0" i="0" u="none" strike="noStrike" cap="none"/>
          </a:p>
        </p:txBody>
      </p:sp>
      <p:sp>
        <p:nvSpPr>
          <p:cNvPr id="64" name="Google Shape;64;p14"/>
          <p:cNvSpPr/>
          <p:nvPr/>
        </p:nvSpPr>
        <p:spPr>
          <a:xfrm>
            <a:off x="9866948" y="4515803"/>
            <a:ext cx="3742730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Officials respond after crises emerge. Without predictive intelligence, prevention remains impossible and resources are wasted on emergency responses.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740331" y="581739"/>
            <a:ext cx="9585365" cy="661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150"/>
              <a:buFont typeface="Gelasio"/>
              <a:buNone/>
            </a:pPr>
            <a:r>
              <a:rPr lang="en-US" sz="41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Our Vision: From Reaction to Prevention</a:t>
            </a:r>
            <a:endParaRPr sz="4150" b="0" i="0" u="none" strike="noStrike" cap="none"/>
          </a:p>
        </p:txBody>
      </p:sp>
      <p:sp>
        <p:nvSpPr>
          <p:cNvPr id="71" name="Google Shape;71;p15"/>
          <p:cNvSpPr/>
          <p:nvPr/>
        </p:nvSpPr>
        <p:spPr>
          <a:xfrm>
            <a:off x="740331" y="1771531"/>
            <a:ext cx="3173135" cy="39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450"/>
              <a:buFont typeface="Gelasio"/>
              <a:buNone/>
            </a:pPr>
            <a:r>
              <a:rPr lang="en-US" sz="24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Mission Statement</a:t>
            </a:r>
            <a:endParaRPr sz="2450" b="0" i="0" u="none" strike="noStrike" cap="none"/>
          </a:p>
        </p:txBody>
      </p:sp>
      <p:sp>
        <p:nvSpPr>
          <p:cNvPr id="72" name="Google Shape;72;p15"/>
          <p:cNvSpPr/>
          <p:nvPr/>
        </p:nvSpPr>
        <p:spPr>
          <a:xfrm>
            <a:off x="740331" y="2379583"/>
            <a:ext cx="7683341" cy="67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lang="en-US" sz="16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Build a privacy-first, scalable early-warning system that links pollution and health data in real time, transforming how communities protect public health.</a:t>
            </a:r>
            <a:endParaRPr sz="1650" b="0" i="0" u="none" strike="noStrike" cap="none"/>
          </a:p>
        </p:txBody>
      </p:sp>
      <p:sp>
        <p:nvSpPr>
          <p:cNvPr id="73" name="Google Shape;73;p15"/>
          <p:cNvSpPr/>
          <p:nvPr/>
        </p:nvSpPr>
        <p:spPr>
          <a:xfrm>
            <a:off x="740331" y="3268028"/>
            <a:ext cx="3173135" cy="39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450"/>
              <a:buFont typeface="Gelasio"/>
              <a:buNone/>
            </a:pPr>
            <a:r>
              <a:rPr lang="en-US" sz="24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Primary Goal</a:t>
            </a:r>
            <a:endParaRPr sz="2450" b="0" i="0" u="none" strike="noStrike" cap="none"/>
          </a:p>
        </p:txBody>
      </p:sp>
      <p:sp>
        <p:nvSpPr>
          <p:cNvPr id="74" name="Google Shape;74;p15"/>
          <p:cNvSpPr/>
          <p:nvPr/>
        </p:nvSpPr>
        <p:spPr>
          <a:xfrm>
            <a:off x="740331" y="3876080"/>
            <a:ext cx="7683341" cy="676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lang="en-US" sz="16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Deliver actionable, map-based intelligence to empower proactive public health decisions before crises develop.</a:t>
            </a:r>
            <a:endParaRPr sz="1650" b="0" i="0" u="none" strike="noStrike" cap="none"/>
          </a:p>
        </p:txBody>
      </p:sp>
      <p:pic>
        <p:nvPicPr>
          <p:cNvPr id="75" name="Google Shape;75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47309" y="1797963"/>
            <a:ext cx="4950262" cy="4950262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57632" y="7461885"/>
            <a:ext cx="12832437" cy="338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60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50"/>
              <a:buFont typeface="Gelasio"/>
              <a:buNone/>
            </a:pPr>
            <a:r>
              <a:rPr lang="en-US" sz="16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"Empowering communities to prevent health crises rather than merely responding to them."</a:t>
            </a:r>
            <a:endParaRPr sz="1650" b="0" i="0" u="none" strike="noStrike" cap="none"/>
          </a:p>
        </p:txBody>
      </p:sp>
      <p:sp>
        <p:nvSpPr>
          <p:cNvPr id="77" name="Google Shape;77;p15"/>
          <p:cNvSpPr/>
          <p:nvPr/>
        </p:nvSpPr>
        <p:spPr>
          <a:xfrm>
            <a:off x="740331" y="7223998"/>
            <a:ext cx="22860" cy="814268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/>
          <p:nvPr/>
        </p:nvSpPr>
        <p:spPr>
          <a:xfrm>
            <a:off x="793790" y="1371838"/>
            <a:ext cx="816030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lang="en-US" sz="44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Meet the Project Swasthya Team</a:t>
            </a:r>
            <a:endParaRPr sz="4450" b="0" i="0" u="none" strike="noStrike" cap="none"/>
          </a:p>
        </p:txBody>
      </p:sp>
      <p:sp>
        <p:nvSpPr>
          <p:cNvPr id="84" name="Google Shape;84;p16"/>
          <p:cNvSpPr/>
          <p:nvPr/>
        </p:nvSpPr>
        <p:spPr>
          <a:xfrm>
            <a:off x="793790" y="2534245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464342"/>
          </a:solidFill>
          <a:ln w="30475" cap="flat" cmpd="sng">
            <a:solidFill>
              <a:srgbClr val="504D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824270" y="2564725"/>
            <a:ext cx="6346984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7621" y="2734747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/>
          <p:nvPr/>
        </p:nvSpPr>
        <p:spPr>
          <a:xfrm>
            <a:off x="1051084" y="34719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Ashpak Sheikh</a:t>
            </a:r>
            <a:endParaRPr sz="2200" b="0" i="0" u="none" strike="noStrike" cap="none"/>
          </a:p>
        </p:txBody>
      </p:sp>
      <p:sp>
        <p:nvSpPr>
          <p:cNvPr id="88" name="Google Shape;88;p16"/>
          <p:cNvSpPr/>
          <p:nvPr/>
        </p:nvSpPr>
        <p:spPr>
          <a:xfrm>
            <a:off x="1051084" y="3962400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Deep Learning &amp; Data Engineering</a:t>
            </a:r>
            <a:endParaRPr sz="1750" b="0" i="0" u="none" strike="noStrike" cap="none"/>
          </a:p>
        </p:txBody>
      </p:sp>
      <p:sp>
        <p:nvSpPr>
          <p:cNvPr id="89" name="Google Shape;89;p16"/>
          <p:cNvSpPr/>
          <p:nvPr/>
        </p:nvSpPr>
        <p:spPr>
          <a:xfrm>
            <a:off x="7428548" y="2534245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464342"/>
          </a:solidFill>
          <a:ln w="30475" cap="flat" cmpd="sng">
            <a:solidFill>
              <a:srgbClr val="504D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7459027" y="2564725"/>
            <a:ext cx="6347103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62498" y="2734747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7685842" y="34719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Mayur Patil</a:t>
            </a:r>
            <a:endParaRPr sz="2200" b="0" i="0" u="none" strike="noStrike" cap="none"/>
          </a:p>
        </p:txBody>
      </p:sp>
      <p:sp>
        <p:nvSpPr>
          <p:cNvPr id="93" name="Google Shape;93;p16"/>
          <p:cNvSpPr/>
          <p:nvPr/>
        </p:nvSpPr>
        <p:spPr>
          <a:xfrm>
            <a:off x="7685842" y="3962400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IoT &amp; Cloud Infrastructure</a:t>
            </a:r>
            <a:endParaRPr sz="1750" b="0" i="0" u="none" strike="noStrike" cap="none"/>
          </a:p>
        </p:txBody>
      </p:sp>
      <p:sp>
        <p:nvSpPr>
          <p:cNvPr id="94" name="Google Shape;94;p16"/>
          <p:cNvSpPr/>
          <p:nvPr/>
        </p:nvSpPr>
        <p:spPr>
          <a:xfrm>
            <a:off x="793790" y="4809411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464342"/>
          </a:solidFill>
          <a:ln w="30475" cap="flat" cmpd="sng">
            <a:solidFill>
              <a:srgbClr val="504D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824270" y="4839891"/>
            <a:ext cx="6346984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7621" y="5009912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1051084" y="57471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Rohan Pawar</a:t>
            </a:r>
            <a:endParaRPr sz="2200" b="0" i="0" u="none" strike="noStrike" cap="none"/>
          </a:p>
        </p:txBody>
      </p:sp>
      <p:sp>
        <p:nvSpPr>
          <p:cNvPr id="98" name="Google Shape;98;p16"/>
          <p:cNvSpPr/>
          <p:nvPr/>
        </p:nvSpPr>
        <p:spPr>
          <a:xfrm>
            <a:off x="1051084" y="6237565"/>
            <a:ext cx="5893356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Full-Stack Development (Dashboard &amp; APIs)</a:t>
            </a:r>
            <a:endParaRPr sz="1750" b="0" i="0" u="none" strike="noStrike" cap="none"/>
          </a:p>
        </p:txBody>
      </p:sp>
      <p:sp>
        <p:nvSpPr>
          <p:cNvPr id="99" name="Google Shape;99;p16"/>
          <p:cNvSpPr/>
          <p:nvPr/>
        </p:nvSpPr>
        <p:spPr>
          <a:xfrm>
            <a:off x="7428548" y="4809411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464342"/>
          </a:solidFill>
          <a:ln w="30475" cap="flat" cmpd="sng">
            <a:solidFill>
              <a:srgbClr val="504D4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7459027" y="4839891"/>
            <a:ext cx="6347103" cy="680442"/>
          </a:xfrm>
          <a:prstGeom prst="rect">
            <a:avLst/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62498" y="5009912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/>
          <p:nvPr/>
        </p:nvSpPr>
        <p:spPr>
          <a:xfrm>
            <a:off x="7685842" y="57471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Sarthak Zunjurke</a:t>
            </a:r>
            <a:endParaRPr sz="2200" b="0" i="0" u="none" strike="noStrike" cap="none"/>
          </a:p>
        </p:txBody>
      </p:sp>
      <p:sp>
        <p:nvSpPr>
          <p:cNvPr id="103" name="Google Shape;103;p16"/>
          <p:cNvSpPr/>
          <p:nvPr/>
        </p:nvSpPr>
        <p:spPr>
          <a:xfrm>
            <a:off x="7685842" y="6237565"/>
            <a:ext cx="5893475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Full-Stack Development (Citizen PWA &amp; Clinic Portal)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793790" y="1540907"/>
            <a:ext cx="1198768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450"/>
              <a:buFont typeface="Gelasio"/>
              <a:buNone/>
            </a:pPr>
            <a:r>
              <a:rPr lang="en-US" sz="44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Hybrid Data Strategy: Three-Pronged Approach</a:t>
            </a:r>
            <a:endParaRPr sz="4450" b="0" i="0" u="none" strike="noStrike" cap="none"/>
          </a:p>
        </p:txBody>
      </p:sp>
      <p:sp>
        <p:nvSpPr>
          <p:cNvPr id="110" name="Google Shape;110;p17"/>
          <p:cNvSpPr/>
          <p:nvPr/>
        </p:nvSpPr>
        <p:spPr>
          <a:xfrm>
            <a:off x="793790" y="2703314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Project Swasthya collects environmental and health data through three complementary channels, ensuring comprehensive coverage whilst maintaining data quality and privacy:</a:t>
            </a:r>
            <a:endParaRPr sz="1750" b="0" i="0" u="none" strike="noStrike" cap="none"/>
          </a:p>
        </p:txBody>
      </p:sp>
      <p:sp>
        <p:nvSpPr>
          <p:cNvPr id="111" name="Google Shape;111;p17"/>
          <p:cNvSpPr/>
          <p:nvPr/>
        </p:nvSpPr>
        <p:spPr>
          <a:xfrm>
            <a:off x="793790" y="368427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01</a:t>
            </a:r>
            <a:endParaRPr sz="1750" b="0" i="0" u="none" strike="noStrike" cap="none"/>
          </a:p>
        </p:txBody>
      </p:sp>
      <p:sp>
        <p:nvSpPr>
          <p:cNvPr id="112" name="Google Shape;112;p17"/>
          <p:cNvSpPr/>
          <p:nvPr/>
        </p:nvSpPr>
        <p:spPr>
          <a:xfrm>
            <a:off x="793790" y="4039314"/>
            <a:ext cx="4196358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793790" y="421362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IoT Sensor Network</a:t>
            </a:r>
            <a:endParaRPr sz="2200" b="0" i="0" u="none" strike="noStrike" cap="none"/>
          </a:p>
        </p:txBody>
      </p:sp>
      <p:sp>
        <p:nvSpPr>
          <p:cNvPr id="114" name="Google Shape;114;p17"/>
          <p:cNvSpPr/>
          <p:nvPr/>
        </p:nvSpPr>
        <p:spPr>
          <a:xfrm>
            <a:off x="793790" y="4704040"/>
            <a:ext cx="4196358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ESP32-based sensors deployed across the city collect hyper-local air pollution data (PM2.5, NO₂, temperature, humidity) every 15 minutes, creating unprecedented spatial resolution.</a:t>
            </a:r>
            <a:endParaRPr sz="1750" b="0" i="0" u="none" strike="noStrike" cap="none"/>
          </a:p>
        </p:txBody>
      </p:sp>
      <p:sp>
        <p:nvSpPr>
          <p:cNvPr id="115" name="Google Shape;115;p17"/>
          <p:cNvSpPr/>
          <p:nvPr/>
        </p:nvSpPr>
        <p:spPr>
          <a:xfrm>
            <a:off x="5216962" y="368427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02</a:t>
            </a:r>
            <a:endParaRPr sz="1750" b="0" i="0" u="none" strike="noStrike" cap="none"/>
          </a:p>
        </p:txBody>
      </p:sp>
      <p:sp>
        <p:nvSpPr>
          <p:cNvPr id="116" name="Google Shape;116;p17"/>
          <p:cNvSpPr/>
          <p:nvPr/>
        </p:nvSpPr>
        <p:spPr>
          <a:xfrm>
            <a:off x="5216962" y="4039314"/>
            <a:ext cx="4196358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216962" y="4213622"/>
            <a:ext cx="304216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Clinic Portal Integration</a:t>
            </a:r>
            <a:endParaRPr sz="2200" b="0" i="0" u="none" strike="noStrike" cap="none"/>
          </a:p>
        </p:txBody>
      </p:sp>
      <p:sp>
        <p:nvSpPr>
          <p:cNvPr id="118" name="Google Shape;118;p17"/>
          <p:cNvSpPr/>
          <p:nvPr/>
        </p:nvSpPr>
        <p:spPr>
          <a:xfrm>
            <a:off x="5216962" y="4704040"/>
            <a:ext cx="4196358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Healthcare facilities upload aggregated, anonymised health statistics through a secure portal, providing professional medical insights without compromising patient confidentiality.</a:t>
            </a:r>
            <a:endParaRPr sz="1750" b="0" i="0" u="none" strike="noStrike" cap="none"/>
          </a:p>
        </p:txBody>
      </p:sp>
      <p:sp>
        <p:nvSpPr>
          <p:cNvPr id="119" name="Google Shape;119;p17"/>
          <p:cNvSpPr/>
          <p:nvPr/>
        </p:nvSpPr>
        <p:spPr>
          <a:xfrm>
            <a:off x="9640133" y="3684270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03</a:t>
            </a:r>
            <a:endParaRPr sz="1750" b="0" i="0" u="none" strike="noStrike" cap="none"/>
          </a:p>
        </p:txBody>
      </p:sp>
      <p:sp>
        <p:nvSpPr>
          <p:cNvPr id="120" name="Google Shape;120;p17"/>
          <p:cNvSpPr/>
          <p:nvPr/>
        </p:nvSpPr>
        <p:spPr>
          <a:xfrm>
            <a:off x="9640133" y="4039314"/>
            <a:ext cx="4196358" cy="30480"/>
          </a:xfrm>
          <a:prstGeom prst="rect">
            <a:avLst/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9640133" y="4213622"/>
            <a:ext cx="291119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200"/>
              <a:buFont typeface="Gelasio"/>
              <a:buNone/>
            </a:pPr>
            <a:r>
              <a:rPr lang="en-US" sz="2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Citizen PWA Reporting</a:t>
            </a:r>
            <a:endParaRPr sz="2200" b="0" i="0" u="none" strike="noStrike" cap="none"/>
          </a:p>
        </p:txBody>
      </p:sp>
      <p:sp>
        <p:nvSpPr>
          <p:cNvPr id="122" name="Google Shape;122;p17"/>
          <p:cNvSpPr/>
          <p:nvPr/>
        </p:nvSpPr>
        <p:spPr>
          <a:xfrm>
            <a:off x="9640133" y="4704040"/>
            <a:ext cx="4196358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750"/>
              <a:buFont typeface="Gelasio"/>
              <a:buNone/>
            </a:pPr>
            <a:r>
              <a:rPr lang="en-US" sz="17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Individuals report symptoms securely through our Progressive Web App using privacy-preserving Federated Learning, enabling community-scale health monitoring without data exposure.</a:t>
            </a:r>
            <a:endParaRPr sz="1750" b="0" i="0" u="none" strike="noStrike" cap="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421005" y="330756"/>
            <a:ext cx="49416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350"/>
              <a:buFont typeface="Gelasio"/>
              <a:buNone/>
            </a:pPr>
            <a:r>
              <a:rPr lang="en-US" sz="23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Core Innovation: Federated Learning</a:t>
            </a:r>
            <a:endParaRPr sz="2350" b="0" i="0" u="none" strike="noStrike" cap="none"/>
          </a:p>
        </p:txBody>
      </p:sp>
      <p:sp>
        <p:nvSpPr>
          <p:cNvPr id="129" name="Google Shape;129;p18"/>
          <p:cNvSpPr/>
          <p:nvPr/>
        </p:nvSpPr>
        <p:spPr>
          <a:xfrm>
            <a:off x="246446" y="1984991"/>
            <a:ext cx="3091500" cy="8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400"/>
              <a:buFont typeface="Gelasio"/>
              <a:buNone/>
            </a:pPr>
            <a:r>
              <a:rPr lang="en-US" sz="250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The Privacy Challenge</a:t>
            </a:r>
            <a:endParaRPr sz="2500" b="0" i="0" u="none" strike="noStrike" cap="none"/>
          </a:p>
        </p:txBody>
      </p:sp>
      <p:sp>
        <p:nvSpPr>
          <p:cNvPr id="130" name="Google Shape;130;p18"/>
          <p:cNvSpPr/>
          <p:nvPr/>
        </p:nvSpPr>
        <p:spPr>
          <a:xfrm>
            <a:off x="246425" y="3168784"/>
            <a:ext cx="6747600" cy="1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900"/>
              <a:buFont typeface="Gelasio"/>
              <a:buNone/>
            </a:pPr>
            <a:r>
              <a:rPr lang="en-US" sz="17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Traditional health monitoring requires collecting sensitive personal data, creating privacy risks and limiting participation. How can we leverage citizen health data without violating privacy rights?</a:t>
            </a:r>
            <a:endParaRPr sz="1700" b="0" i="0" u="none" strike="noStrike" cap="none"/>
          </a:p>
        </p:txBody>
      </p:sp>
      <p:sp>
        <p:nvSpPr>
          <p:cNvPr id="131" name="Google Shape;131;p18"/>
          <p:cNvSpPr/>
          <p:nvPr/>
        </p:nvSpPr>
        <p:spPr>
          <a:xfrm>
            <a:off x="390804" y="4931953"/>
            <a:ext cx="2406000" cy="8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1400"/>
              <a:buFont typeface="Gelasio"/>
              <a:buNone/>
            </a:pPr>
            <a:r>
              <a:rPr lang="en-US" sz="270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Our Solution</a:t>
            </a:r>
            <a:endParaRPr sz="2700" b="0" i="0" u="none" strike="noStrike" cap="none"/>
          </a:p>
        </p:txBody>
      </p:sp>
      <p:sp>
        <p:nvSpPr>
          <p:cNvPr id="132" name="Google Shape;132;p18"/>
          <p:cNvSpPr/>
          <p:nvPr/>
        </p:nvSpPr>
        <p:spPr>
          <a:xfrm>
            <a:off x="141680" y="5657798"/>
            <a:ext cx="6747600" cy="1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900"/>
              <a:buFont typeface="Gelasio"/>
              <a:buNone/>
            </a:pPr>
            <a:r>
              <a:rPr lang="en-US" sz="170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Federated Learning (FL)</a:t>
            </a:r>
            <a:r>
              <a:rPr lang="en-US" sz="17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— a revolutionary approach that trains AI models without ever accessing raw user data.</a:t>
            </a:r>
            <a:endParaRPr sz="1700" b="0" i="0" u="none" strike="noStrike" cap="none"/>
          </a:p>
        </p:txBody>
      </p:sp>
      <p:pic>
        <p:nvPicPr>
          <p:cNvPr id="133" name="Google Shape;133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9505" y="1022271"/>
            <a:ext cx="6747510" cy="6747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005" y="8040291"/>
            <a:ext cx="4596051" cy="48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/>
          <p:nvPr/>
        </p:nvSpPr>
        <p:spPr>
          <a:xfrm>
            <a:off x="541258" y="8641794"/>
            <a:ext cx="1503878" cy="18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lang="en-US" sz="11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Model Distribution</a:t>
            </a:r>
            <a:endParaRPr sz="1150" b="0" i="0" u="none" strike="noStrike" cap="none"/>
          </a:p>
        </p:txBody>
      </p:sp>
      <p:sp>
        <p:nvSpPr>
          <p:cNvPr id="136" name="Google Shape;136;p18"/>
          <p:cNvSpPr/>
          <p:nvPr/>
        </p:nvSpPr>
        <p:spPr>
          <a:xfrm>
            <a:off x="541258" y="8901827"/>
            <a:ext cx="435554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900"/>
              <a:buFont typeface="Gelasio"/>
              <a:buNone/>
            </a:pPr>
            <a:r>
              <a:rPr lang="en-US" sz="9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Central server sends AI model to citizen smartphones</a:t>
            </a:r>
            <a:endParaRPr sz="900" b="0" i="0" u="none" strike="noStrike" cap="none"/>
          </a:p>
        </p:txBody>
      </p:sp>
      <p:pic>
        <p:nvPicPr>
          <p:cNvPr id="137" name="Google Shape;137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17056" y="8040291"/>
            <a:ext cx="4596170" cy="48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5137309" y="8641794"/>
            <a:ext cx="1503878" cy="18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lang="en-US" sz="11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Local Training</a:t>
            </a:r>
            <a:endParaRPr sz="1150" b="0" i="0" u="none" strike="noStrike" cap="none"/>
          </a:p>
        </p:txBody>
      </p:sp>
      <p:sp>
        <p:nvSpPr>
          <p:cNvPr id="139" name="Google Shape;139;p18"/>
          <p:cNvSpPr/>
          <p:nvPr/>
        </p:nvSpPr>
        <p:spPr>
          <a:xfrm>
            <a:off x="5137309" y="8901827"/>
            <a:ext cx="4355663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900"/>
              <a:buFont typeface="Gelasio"/>
              <a:buNone/>
            </a:pPr>
            <a:r>
              <a:rPr lang="en-US" sz="9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Model learns from user data entirely on device — data never leaves phone</a:t>
            </a:r>
            <a:endParaRPr sz="900" b="0" i="0" u="none" strike="noStrike" cap="none"/>
          </a:p>
        </p:txBody>
      </p:sp>
      <p:pic>
        <p:nvPicPr>
          <p:cNvPr id="140" name="Google Shape;140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13225" y="8040291"/>
            <a:ext cx="4596170" cy="48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9733478" y="8641794"/>
            <a:ext cx="1503878" cy="187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150"/>
              <a:buFont typeface="Gelasio"/>
              <a:buNone/>
            </a:pPr>
            <a:r>
              <a:rPr lang="en-US" sz="11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Secure Updates</a:t>
            </a:r>
            <a:endParaRPr sz="1150" b="0" i="0" u="none" strike="noStrike" cap="none"/>
          </a:p>
        </p:txBody>
      </p:sp>
      <p:sp>
        <p:nvSpPr>
          <p:cNvPr id="142" name="Google Shape;142;p18"/>
          <p:cNvSpPr/>
          <p:nvPr/>
        </p:nvSpPr>
        <p:spPr>
          <a:xfrm>
            <a:off x="9733478" y="8901827"/>
            <a:ext cx="4355663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900"/>
              <a:buFont typeface="Gelasio"/>
              <a:buNone/>
            </a:pPr>
            <a:r>
              <a:rPr lang="en-US" sz="9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Only encrypted model improvements shared back to server</a:t>
            </a:r>
            <a:endParaRPr sz="900" b="0" i="0" u="none" strike="noStrike" cap="none"/>
          </a:p>
        </p:txBody>
      </p:sp>
      <p:sp>
        <p:nvSpPr>
          <p:cNvPr id="143" name="Google Shape;143;p18"/>
          <p:cNvSpPr/>
          <p:nvPr/>
        </p:nvSpPr>
        <p:spPr>
          <a:xfrm>
            <a:off x="421005" y="9349859"/>
            <a:ext cx="13788390" cy="511135"/>
          </a:xfrm>
          <a:prstGeom prst="roundRect">
            <a:avLst>
              <a:gd name="adj" fmla="val 3531"/>
            </a:avLst>
          </a:prstGeom>
          <a:solidFill>
            <a:srgbClr val="3322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1258" y="9524405"/>
            <a:ext cx="150376" cy="12025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811887" y="9500116"/>
            <a:ext cx="13277255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Gelasio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Result:</a:t>
            </a:r>
            <a:r>
              <a:rPr lang="en-US" sz="900" b="0" i="0" u="none" strike="noStrike" cap="none">
                <a:solidFill>
                  <a:srgbClr val="FFFFFF"/>
                </a:solidFill>
                <a:latin typeface="Gelasio"/>
                <a:ea typeface="Gelasio"/>
                <a:cs typeface="Gelasio"/>
                <a:sym typeface="Gelasio"/>
              </a:rPr>
              <a:t> 100% user privacy guaranteed whilst enabling powerful community health insights.</a:t>
            </a:r>
            <a:endParaRPr sz="900" b="0" i="0" u="none" strike="noStrike" cap="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724138" y="580073"/>
            <a:ext cx="9198173" cy="6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50"/>
              <a:buFont typeface="Gelasio"/>
              <a:buNone/>
            </a:pPr>
            <a:r>
              <a:rPr lang="en-US" sz="40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System Architecture: Four-Layer Design</a:t>
            </a:r>
            <a:endParaRPr sz="4050" b="0" i="0" u="none" strike="noStrike" cap="none"/>
          </a:p>
        </p:txBody>
      </p:sp>
      <p:sp>
        <p:nvSpPr>
          <p:cNvPr id="152" name="Google Shape;152;p19"/>
          <p:cNvSpPr/>
          <p:nvPr/>
        </p:nvSpPr>
        <p:spPr>
          <a:xfrm>
            <a:off x="724138" y="1640324"/>
            <a:ext cx="13182124" cy="33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Project Swasthya employs a scalable, cloud-native architecture designed for real-time data processing and AI-driven analysis:</a:t>
            </a:r>
            <a:endParaRPr sz="1600" b="0" i="0" u="none" strike="noStrike" cap="none"/>
          </a:p>
        </p:txBody>
      </p:sp>
      <p:sp>
        <p:nvSpPr>
          <p:cNvPr id="153" name="Google Shape;153;p19"/>
          <p:cNvSpPr/>
          <p:nvPr/>
        </p:nvSpPr>
        <p:spPr>
          <a:xfrm>
            <a:off x="1034415" y="2721173"/>
            <a:ext cx="6177201" cy="206812"/>
          </a:xfrm>
          <a:prstGeom prst="roundRect">
            <a:avLst>
              <a:gd name="adj" fmla="val 1500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/>
          <p:nvPr/>
        </p:nvSpPr>
        <p:spPr>
          <a:xfrm>
            <a:off x="724138" y="2514183"/>
            <a:ext cx="620673" cy="620673"/>
          </a:xfrm>
          <a:prstGeom prst="roundRect">
            <a:avLst>
              <a:gd name="adj" fmla="val 73662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" name="Google Shape;155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277" y="2669441"/>
            <a:ext cx="310277" cy="31027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930950" y="3341727"/>
            <a:ext cx="2586276" cy="32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Data Sources Layer</a:t>
            </a:r>
            <a:endParaRPr sz="2000" b="0" i="0" u="none" strike="noStrike" cap="none"/>
          </a:p>
        </p:txBody>
      </p:sp>
      <p:sp>
        <p:nvSpPr>
          <p:cNvPr id="157" name="Google Shape;157;p19"/>
          <p:cNvSpPr/>
          <p:nvPr/>
        </p:nvSpPr>
        <p:spPr>
          <a:xfrm>
            <a:off x="930950" y="3789045"/>
            <a:ext cx="6073973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IoT sensors, external APIs, Citizen PWA, and clinic portals continuously feed diverse data streams into the system.</a:t>
            </a:r>
            <a:endParaRPr sz="1600" b="0" i="0" u="none" strike="noStrike" cap="none"/>
          </a:p>
        </p:txBody>
      </p:sp>
      <p:sp>
        <p:nvSpPr>
          <p:cNvPr id="158" name="Google Shape;158;p19"/>
          <p:cNvSpPr/>
          <p:nvPr/>
        </p:nvSpPr>
        <p:spPr>
          <a:xfrm>
            <a:off x="7728823" y="2410897"/>
            <a:ext cx="6177320" cy="206812"/>
          </a:xfrm>
          <a:prstGeom prst="roundRect">
            <a:avLst>
              <a:gd name="adj" fmla="val 1500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7418546" y="2203906"/>
            <a:ext cx="620673" cy="620673"/>
          </a:xfrm>
          <a:prstGeom prst="roundRect">
            <a:avLst>
              <a:gd name="adj" fmla="val 73662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0" name="Google Shape;160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3685" y="2359164"/>
            <a:ext cx="310277" cy="31027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7625358" y="3031450"/>
            <a:ext cx="2613541" cy="32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Ingestion Layer (AWS)</a:t>
            </a:r>
            <a:endParaRPr sz="2000" b="0" i="0" u="none" strike="noStrike" cap="none"/>
          </a:p>
        </p:txBody>
      </p:sp>
      <p:sp>
        <p:nvSpPr>
          <p:cNvPr id="162" name="Google Shape;162;p19"/>
          <p:cNvSpPr/>
          <p:nvPr/>
        </p:nvSpPr>
        <p:spPr>
          <a:xfrm>
            <a:off x="7625358" y="3478768"/>
            <a:ext cx="6074093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AWS IoT Core, Kinesis, and Lambda functions handle real-time data ingestion, validation, and initial processing at scale.</a:t>
            </a:r>
            <a:endParaRPr sz="1600" b="0" i="0" u="none" strike="noStrike" cap="none"/>
          </a:p>
        </p:txBody>
      </p:sp>
      <p:sp>
        <p:nvSpPr>
          <p:cNvPr id="163" name="Google Shape;163;p19"/>
          <p:cNvSpPr/>
          <p:nvPr/>
        </p:nvSpPr>
        <p:spPr>
          <a:xfrm>
            <a:off x="1034415" y="5381863"/>
            <a:ext cx="6177201" cy="206812"/>
          </a:xfrm>
          <a:prstGeom prst="roundRect">
            <a:avLst>
              <a:gd name="adj" fmla="val 1500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724138" y="5174873"/>
            <a:ext cx="620673" cy="620673"/>
          </a:xfrm>
          <a:prstGeom prst="roundRect">
            <a:avLst>
              <a:gd name="adj" fmla="val 73662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5" name="Google Shape;165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9277" y="5330130"/>
            <a:ext cx="310277" cy="3102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930950" y="6002417"/>
            <a:ext cx="2586276" cy="32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&amp; Storage Layer</a:t>
            </a:r>
            <a:endParaRPr sz="2000" b="0" i="0" u="none" strike="noStrike" cap="none"/>
          </a:p>
        </p:txBody>
      </p:sp>
      <p:sp>
        <p:nvSpPr>
          <p:cNvPr id="167" name="Google Shape;167;p19"/>
          <p:cNvSpPr/>
          <p:nvPr/>
        </p:nvSpPr>
        <p:spPr>
          <a:xfrm>
            <a:off x="930950" y="6449735"/>
            <a:ext cx="6073973" cy="99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SageMaker trains models, whilst RDS, Timestream, and Flower FL server manage structured data, time-series, and federated learning coordination.</a:t>
            </a:r>
            <a:endParaRPr sz="1600" b="0" i="0" u="none" strike="noStrike" cap="none"/>
          </a:p>
        </p:txBody>
      </p:sp>
      <p:sp>
        <p:nvSpPr>
          <p:cNvPr id="168" name="Google Shape;168;p19"/>
          <p:cNvSpPr/>
          <p:nvPr/>
        </p:nvSpPr>
        <p:spPr>
          <a:xfrm>
            <a:off x="7728823" y="5071586"/>
            <a:ext cx="6177320" cy="206812"/>
          </a:xfrm>
          <a:prstGeom prst="roundRect">
            <a:avLst>
              <a:gd name="adj" fmla="val 1500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7418546" y="4864596"/>
            <a:ext cx="620673" cy="620673"/>
          </a:xfrm>
          <a:prstGeom prst="roundRect">
            <a:avLst>
              <a:gd name="adj" fmla="val 73662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0" name="Google Shape;170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73685" y="5019854"/>
            <a:ext cx="310277" cy="31027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/>
          <p:nvPr/>
        </p:nvSpPr>
        <p:spPr>
          <a:xfrm>
            <a:off x="7625358" y="5692140"/>
            <a:ext cx="2586276" cy="323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Presentation Layer</a:t>
            </a:r>
            <a:endParaRPr sz="2000" b="0" i="0" u="none" strike="noStrike" cap="none"/>
          </a:p>
        </p:txBody>
      </p:sp>
      <p:sp>
        <p:nvSpPr>
          <p:cNvPr id="172" name="Google Shape;172;p19"/>
          <p:cNvSpPr/>
          <p:nvPr/>
        </p:nvSpPr>
        <p:spPr>
          <a:xfrm>
            <a:off x="7625358" y="6139458"/>
            <a:ext cx="6074093" cy="66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React-based dashboard for officials and PWA for citizens provide intuitive access to insights, alerts, and reporting capabilities.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4630400" cy="2517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704969" y="3117890"/>
            <a:ext cx="6722507" cy="629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950"/>
              <a:buFont typeface="Gelasio"/>
              <a:buNone/>
            </a:pPr>
            <a:r>
              <a:rPr lang="en-US" sz="39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AI Engine &amp; Technology Stack</a:t>
            </a:r>
            <a:endParaRPr sz="3950" b="0" i="0" u="none" strike="noStrike" cap="none"/>
          </a:p>
        </p:txBody>
      </p:sp>
      <p:sp>
        <p:nvSpPr>
          <p:cNvPr id="180" name="Google Shape;180;p20"/>
          <p:cNvSpPr/>
          <p:nvPr/>
        </p:nvSpPr>
        <p:spPr>
          <a:xfrm>
            <a:off x="704969" y="4250769"/>
            <a:ext cx="3021449" cy="37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350"/>
              <a:buFont typeface="Gelasio"/>
              <a:buNone/>
            </a:pPr>
            <a:r>
              <a:rPr lang="en-US" sz="23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Hybrid AI System</a:t>
            </a:r>
            <a:endParaRPr sz="2350" b="0" i="0" u="none" strike="noStrike" cap="none"/>
          </a:p>
        </p:txBody>
      </p:sp>
      <p:sp>
        <p:nvSpPr>
          <p:cNvPr id="181" name="Google Shape;181;p20"/>
          <p:cNvSpPr/>
          <p:nvPr/>
        </p:nvSpPr>
        <p:spPr>
          <a:xfrm>
            <a:off x="704969" y="4829770"/>
            <a:ext cx="7050048" cy="64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Client-Side Intelligence: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TensorFlow.js runs on smartphones, learning personal symptom patterns whilst preserving complete privacy.</a:t>
            </a:r>
            <a:endParaRPr sz="1550" b="0" i="0" u="none" strike="noStrike" cap="none"/>
          </a:p>
        </p:txBody>
      </p:sp>
      <p:sp>
        <p:nvSpPr>
          <p:cNvPr id="182" name="Google Shape;182;p20"/>
          <p:cNvSpPr/>
          <p:nvPr/>
        </p:nvSpPr>
        <p:spPr>
          <a:xfrm>
            <a:off x="704969" y="5655588"/>
            <a:ext cx="7050048" cy="96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Server-Side Analysis: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Graph Transformer models running on AWS SageMaker identify city-wide correlations between pollution exposure and health outcomes.</a:t>
            </a:r>
            <a:endParaRPr sz="1550" b="0" i="0" u="none" strike="noStrike" cap="none"/>
          </a:p>
        </p:txBody>
      </p:sp>
      <p:sp>
        <p:nvSpPr>
          <p:cNvPr id="183" name="Google Shape;183;p20"/>
          <p:cNvSpPr/>
          <p:nvPr/>
        </p:nvSpPr>
        <p:spPr>
          <a:xfrm>
            <a:off x="704969" y="6803708"/>
            <a:ext cx="7050048" cy="644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This dual approach combines individual pattern recognition with population-level intelligence, creating a comprehensive early-warning system.</a:t>
            </a:r>
            <a:endParaRPr sz="1550" b="0" i="0" u="none" strike="noStrike" cap="none"/>
          </a:p>
        </p:txBody>
      </p:sp>
      <p:sp>
        <p:nvSpPr>
          <p:cNvPr id="184" name="Google Shape;184;p20"/>
          <p:cNvSpPr/>
          <p:nvPr/>
        </p:nvSpPr>
        <p:spPr>
          <a:xfrm>
            <a:off x="8254127" y="4250769"/>
            <a:ext cx="3021449" cy="377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350"/>
              <a:buFont typeface="Gelasio"/>
              <a:buNone/>
            </a:pPr>
            <a:r>
              <a:rPr lang="en-US" sz="23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Technology Stack</a:t>
            </a:r>
            <a:endParaRPr sz="2350" b="0" i="0" u="none" strike="noStrike" cap="none"/>
          </a:p>
        </p:txBody>
      </p:sp>
      <p:sp>
        <p:nvSpPr>
          <p:cNvPr id="185" name="Google Shape;185;p20"/>
          <p:cNvSpPr/>
          <p:nvPr/>
        </p:nvSpPr>
        <p:spPr>
          <a:xfrm>
            <a:off x="8254127" y="4829770"/>
            <a:ext cx="5678805" cy="3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Frontend: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React, Progressive Web App</a:t>
            </a:r>
            <a:endParaRPr sz="1550" b="0" i="0" u="none" strike="noStrike" cap="none"/>
          </a:p>
        </p:txBody>
      </p:sp>
      <p:sp>
        <p:nvSpPr>
          <p:cNvPr id="186" name="Google Shape;186;p20"/>
          <p:cNvSpPr/>
          <p:nvPr/>
        </p:nvSpPr>
        <p:spPr>
          <a:xfrm>
            <a:off x="8254127" y="5222558"/>
            <a:ext cx="5678805" cy="3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Backend: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Node.js, Express.js</a:t>
            </a:r>
            <a:endParaRPr sz="1550" b="0" i="0" u="none" strike="noStrike" cap="none"/>
          </a:p>
        </p:txBody>
      </p:sp>
      <p:sp>
        <p:nvSpPr>
          <p:cNvPr id="187" name="Google Shape;187;p20"/>
          <p:cNvSpPr/>
          <p:nvPr/>
        </p:nvSpPr>
        <p:spPr>
          <a:xfrm>
            <a:off x="8254127" y="5615345"/>
            <a:ext cx="5678805" cy="3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Cloud: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AWS (IoT Core, Lambda, SageMaker)</a:t>
            </a:r>
            <a:endParaRPr sz="1550" b="0" i="0" u="none" strike="noStrike" cap="none"/>
          </a:p>
        </p:txBody>
      </p:sp>
      <p:sp>
        <p:nvSpPr>
          <p:cNvPr id="188" name="Google Shape;188;p20"/>
          <p:cNvSpPr/>
          <p:nvPr/>
        </p:nvSpPr>
        <p:spPr>
          <a:xfrm>
            <a:off x="8254127" y="6008132"/>
            <a:ext cx="5678805" cy="3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AI/ML: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TensorFlow.js, Graph Transformers, Flower</a:t>
            </a:r>
            <a:endParaRPr sz="1550" b="0" i="0" u="none" strike="noStrike" cap="none"/>
          </a:p>
        </p:txBody>
      </p:sp>
      <p:sp>
        <p:nvSpPr>
          <p:cNvPr id="189" name="Google Shape;189;p20"/>
          <p:cNvSpPr/>
          <p:nvPr/>
        </p:nvSpPr>
        <p:spPr>
          <a:xfrm>
            <a:off x="8254127" y="6400919"/>
            <a:ext cx="5678805" cy="3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Hardware: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ESP32 microcontrollers</a:t>
            </a:r>
            <a:endParaRPr sz="1550" b="0" i="0" u="none" strike="noStrike" cap="none"/>
          </a:p>
        </p:txBody>
      </p:sp>
      <p:sp>
        <p:nvSpPr>
          <p:cNvPr id="190" name="Google Shape;190;p20"/>
          <p:cNvSpPr/>
          <p:nvPr/>
        </p:nvSpPr>
        <p:spPr>
          <a:xfrm>
            <a:off x="8254127" y="6793706"/>
            <a:ext cx="5678805" cy="322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50"/>
              <a:buFont typeface="Gelasio"/>
              <a:buNone/>
            </a:pPr>
            <a:r>
              <a:rPr lang="en-US" sz="1550" b="1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Database:</a:t>
            </a:r>
            <a:r>
              <a:rPr lang="en-US" sz="15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 RDS, Timestream</a:t>
            </a:r>
            <a:endParaRPr sz="1550" b="0" i="0" u="none" strike="noStrike" cap="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721043" y="567571"/>
            <a:ext cx="8841105" cy="643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4050"/>
              <a:buFont typeface="Gelasio"/>
              <a:buNone/>
            </a:pPr>
            <a:r>
              <a:rPr lang="en-US" sz="40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Applications &amp; Development Roadmap</a:t>
            </a:r>
            <a:endParaRPr sz="4050" b="0" i="0" u="none" strike="noStrike" cap="none"/>
          </a:p>
        </p:txBody>
      </p:sp>
      <p:sp>
        <p:nvSpPr>
          <p:cNvPr id="197" name="Google Shape;197;p21"/>
          <p:cNvSpPr/>
          <p:nvPr/>
        </p:nvSpPr>
        <p:spPr>
          <a:xfrm>
            <a:off x="721043" y="1726287"/>
            <a:ext cx="3090505" cy="38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For Citizens</a:t>
            </a:r>
            <a:endParaRPr sz="2400" b="0" i="0" u="none" strike="noStrike" cap="none"/>
          </a:p>
        </p:txBody>
      </p:sp>
      <p:sp>
        <p:nvSpPr>
          <p:cNvPr id="198" name="Google Shape;198;p21"/>
          <p:cNvSpPr/>
          <p:nvPr/>
        </p:nvSpPr>
        <p:spPr>
          <a:xfrm>
            <a:off x="721043" y="2318623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View live air quality data for their neighbourhood</a:t>
            </a:r>
            <a:endParaRPr sz="1600" b="0" i="0" u="none" strike="noStrike" cap="none"/>
          </a:p>
        </p:txBody>
      </p:sp>
      <p:sp>
        <p:nvSpPr>
          <p:cNvPr id="199" name="Google Shape;199;p21"/>
          <p:cNvSpPr/>
          <p:nvPr/>
        </p:nvSpPr>
        <p:spPr>
          <a:xfrm>
            <a:off x="721043" y="2720221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Report symptoms securely through privacy-protected app</a:t>
            </a:r>
            <a:endParaRPr sz="1600" b="0" i="0" u="none" strike="noStrike" cap="none"/>
          </a:p>
        </p:txBody>
      </p:sp>
      <p:sp>
        <p:nvSpPr>
          <p:cNvPr id="200" name="Google Shape;200;p21"/>
          <p:cNvSpPr/>
          <p:nvPr/>
        </p:nvSpPr>
        <p:spPr>
          <a:xfrm>
            <a:off x="721043" y="3121819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Receive personalised health alerts based on pollution levels</a:t>
            </a:r>
            <a:endParaRPr sz="1600" b="0" i="0" u="none" strike="noStrike" cap="none"/>
          </a:p>
        </p:txBody>
      </p:sp>
      <p:sp>
        <p:nvSpPr>
          <p:cNvPr id="201" name="Google Shape;201;p21"/>
          <p:cNvSpPr/>
          <p:nvPr/>
        </p:nvSpPr>
        <p:spPr>
          <a:xfrm>
            <a:off x="721043" y="3523417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Contribute to community health without data exposure</a:t>
            </a:r>
            <a:endParaRPr sz="1600" b="0" i="0" u="none" strike="noStrike" cap="none"/>
          </a:p>
        </p:txBody>
      </p:sp>
      <p:sp>
        <p:nvSpPr>
          <p:cNvPr id="202" name="Google Shape;202;p21"/>
          <p:cNvSpPr/>
          <p:nvPr/>
        </p:nvSpPr>
        <p:spPr>
          <a:xfrm>
            <a:off x="721043" y="4058960"/>
            <a:ext cx="3621881" cy="38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For Public Health Officials</a:t>
            </a:r>
            <a:endParaRPr sz="2400" b="0" i="0" u="none" strike="noStrike" cap="none"/>
          </a:p>
        </p:txBody>
      </p:sp>
      <p:sp>
        <p:nvSpPr>
          <p:cNvPr id="203" name="Google Shape;203;p21"/>
          <p:cNvSpPr/>
          <p:nvPr/>
        </p:nvSpPr>
        <p:spPr>
          <a:xfrm>
            <a:off x="721043" y="4651296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Access real-time correlation alerts between pollution and health</a:t>
            </a:r>
            <a:endParaRPr sz="1600" b="0" i="0" u="none" strike="noStrike" cap="none"/>
          </a:p>
        </p:txBody>
      </p:sp>
      <p:sp>
        <p:nvSpPr>
          <p:cNvPr id="204" name="Google Shape;204;p21"/>
          <p:cNvSpPr/>
          <p:nvPr/>
        </p:nvSpPr>
        <p:spPr>
          <a:xfrm>
            <a:off x="721043" y="5052893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Visualise hotspot maps identifying at-risk areas</a:t>
            </a:r>
            <a:endParaRPr sz="1600" b="0" i="0" u="none" strike="noStrike" cap="none"/>
          </a:p>
        </p:txBody>
      </p:sp>
      <p:sp>
        <p:nvSpPr>
          <p:cNvPr id="205" name="Google Shape;205;p21"/>
          <p:cNvSpPr/>
          <p:nvPr/>
        </p:nvSpPr>
        <p:spPr>
          <a:xfrm>
            <a:off x="721043" y="5454491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Make data-driven intervention decisions</a:t>
            </a:r>
            <a:endParaRPr sz="1600" b="0" i="0" u="none" strike="noStrike" cap="none"/>
          </a:p>
        </p:txBody>
      </p:sp>
      <p:sp>
        <p:nvSpPr>
          <p:cNvPr id="206" name="Google Shape;206;p21"/>
          <p:cNvSpPr/>
          <p:nvPr/>
        </p:nvSpPr>
        <p:spPr>
          <a:xfrm>
            <a:off x="721043" y="5856089"/>
            <a:ext cx="6342817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Char char="•"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Track effectiveness of environmental policies</a:t>
            </a:r>
            <a:endParaRPr sz="1600" b="0" i="0" u="none" strike="noStrike" cap="none"/>
          </a:p>
        </p:txBody>
      </p:sp>
      <p:sp>
        <p:nvSpPr>
          <p:cNvPr id="207" name="Google Shape;207;p21"/>
          <p:cNvSpPr/>
          <p:nvPr/>
        </p:nvSpPr>
        <p:spPr>
          <a:xfrm>
            <a:off x="7574161" y="1726287"/>
            <a:ext cx="3090505" cy="386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Development Phases</a:t>
            </a:r>
            <a:endParaRPr sz="2400" b="0" i="0" u="none" strike="noStrike" cap="none"/>
          </a:p>
        </p:txBody>
      </p:sp>
      <p:sp>
        <p:nvSpPr>
          <p:cNvPr id="208" name="Google Shape;208;p21"/>
          <p:cNvSpPr/>
          <p:nvPr/>
        </p:nvSpPr>
        <p:spPr>
          <a:xfrm>
            <a:off x="10734080" y="2344341"/>
            <a:ext cx="22860" cy="5085874"/>
          </a:xfrm>
          <a:prstGeom prst="roundRect">
            <a:avLst>
              <a:gd name="adj" fmla="val 135193"/>
            </a:avLst>
          </a:prstGeom>
          <a:solidFill>
            <a:srgbClr val="504D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9918561" y="2564606"/>
            <a:ext cx="618053" cy="22860"/>
          </a:xfrm>
          <a:prstGeom prst="roundRect">
            <a:avLst>
              <a:gd name="adj" fmla="val 135193"/>
            </a:avLst>
          </a:prstGeom>
          <a:solidFill>
            <a:srgbClr val="504D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10513755" y="2344341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10590967" y="2382917"/>
            <a:ext cx="308967" cy="3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1</a:t>
            </a:r>
            <a:endParaRPr sz="2400" b="0" i="0" u="none" strike="noStrike" cap="none"/>
          </a:p>
        </p:txBody>
      </p:sp>
      <p:sp>
        <p:nvSpPr>
          <p:cNvPr id="212" name="Google Shape;212;p21"/>
          <p:cNvSpPr/>
          <p:nvPr/>
        </p:nvSpPr>
        <p:spPr>
          <a:xfrm>
            <a:off x="7574161" y="2415064"/>
            <a:ext cx="2141220" cy="64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Research &amp; Architecture</a:t>
            </a:r>
            <a:endParaRPr sz="2000" b="0" i="0" u="none" strike="noStrike" cap="none"/>
          </a:p>
        </p:txBody>
      </p:sp>
      <p:sp>
        <p:nvSpPr>
          <p:cNvPr id="213" name="Google Shape;213;p21"/>
          <p:cNvSpPr/>
          <p:nvPr/>
        </p:nvSpPr>
        <p:spPr>
          <a:xfrm>
            <a:off x="7574161" y="3264694"/>
            <a:ext cx="214122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Completed</a:t>
            </a:r>
            <a:endParaRPr sz="1600" b="0" i="0" u="none" strike="noStrike" cap="none"/>
          </a:p>
        </p:txBody>
      </p:sp>
      <p:sp>
        <p:nvSpPr>
          <p:cNvPr id="214" name="Google Shape;214;p21"/>
          <p:cNvSpPr/>
          <p:nvPr/>
        </p:nvSpPr>
        <p:spPr>
          <a:xfrm>
            <a:off x="10954405" y="3800594"/>
            <a:ext cx="618053" cy="22860"/>
          </a:xfrm>
          <a:prstGeom prst="roundRect">
            <a:avLst>
              <a:gd name="adj" fmla="val 135193"/>
            </a:avLst>
          </a:prstGeom>
          <a:solidFill>
            <a:srgbClr val="504D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10513755" y="3580328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10590967" y="3618905"/>
            <a:ext cx="308967" cy="3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2</a:t>
            </a:r>
            <a:endParaRPr sz="2400" b="0" i="0" u="none" strike="noStrike" cap="none"/>
          </a:p>
        </p:txBody>
      </p:sp>
      <p:sp>
        <p:nvSpPr>
          <p:cNvPr id="217" name="Google Shape;217;p21"/>
          <p:cNvSpPr/>
          <p:nvPr/>
        </p:nvSpPr>
        <p:spPr>
          <a:xfrm>
            <a:off x="11775638" y="3651052"/>
            <a:ext cx="2141339" cy="64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Core Implementation</a:t>
            </a:r>
            <a:endParaRPr sz="2000" b="0" i="0" u="none" strike="noStrike" cap="none"/>
          </a:p>
        </p:txBody>
      </p:sp>
      <p:sp>
        <p:nvSpPr>
          <p:cNvPr id="218" name="Google Shape;218;p21"/>
          <p:cNvSpPr/>
          <p:nvPr/>
        </p:nvSpPr>
        <p:spPr>
          <a:xfrm>
            <a:off x="11775638" y="4500682"/>
            <a:ext cx="2141339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In Progress</a:t>
            </a:r>
            <a:endParaRPr sz="1600" b="0" i="0" u="none" strike="noStrike" cap="none"/>
          </a:p>
        </p:txBody>
      </p:sp>
      <p:sp>
        <p:nvSpPr>
          <p:cNvPr id="219" name="Google Shape;219;p21"/>
          <p:cNvSpPr/>
          <p:nvPr/>
        </p:nvSpPr>
        <p:spPr>
          <a:xfrm>
            <a:off x="9918561" y="4865965"/>
            <a:ext cx="618053" cy="22860"/>
          </a:xfrm>
          <a:prstGeom prst="roundRect">
            <a:avLst>
              <a:gd name="adj" fmla="val 135193"/>
            </a:avLst>
          </a:prstGeom>
          <a:solidFill>
            <a:srgbClr val="504D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10513755" y="4645700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0590967" y="4684276"/>
            <a:ext cx="308967" cy="3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3</a:t>
            </a:r>
            <a:endParaRPr sz="2400" b="0" i="0" u="none" strike="noStrike" cap="none"/>
          </a:p>
        </p:txBody>
      </p:sp>
      <p:sp>
        <p:nvSpPr>
          <p:cNvPr id="222" name="Google Shape;222;p21"/>
          <p:cNvSpPr/>
          <p:nvPr/>
        </p:nvSpPr>
        <p:spPr>
          <a:xfrm>
            <a:off x="7574161" y="4716423"/>
            <a:ext cx="2141220" cy="64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AI Model &amp; Integration</a:t>
            </a:r>
            <a:endParaRPr sz="2000" b="0" i="0" u="none" strike="noStrike" cap="none"/>
          </a:p>
        </p:txBody>
      </p:sp>
      <p:sp>
        <p:nvSpPr>
          <p:cNvPr id="223" name="Google Shape;223;p21"/>
          <p:cNvSpPr/>
          <p:nvPr/>
        </p:nvSpPr>
        <p:spPr>
          <a:xfrm>
            <a:off x="7574161" y="5566053"/>
            <a:ext cx="2141220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Next Phase</a:t>
            </a:r>
            <a:endParaRPr sz="1600" b="0" i="0" u="none" strike="noStrike" cap="none"/>
          </a:p>
        </p:txBody>
      </p:sp>
      <p:sp>
        <p:nvSpPr>
          <p:cNvPr id="224" name="Google Shape;224;p21"/>
          <p:cNvSpPr/>
          <p:nvPr/>
        </p:nvSpPr>
        <p:spPr>
          <a:xfrm>
            <a:off x="10954405" y="5931456"/>
            <a:ext cx="618053" cy="22860"/>
          </a:xfrm>
          <a:prstGeom prst="roundRect">
            <a:avLst>
              <a:gd name="adj" fmla="val 135193"/>
            </a:avLst>
          </a:prstGeom>
          <a:solidFill>
            <a:srgbClr val="504D4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10513755" y="5711190"/>
            <a:ext cx="463510" cy="463510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10590967" y="5749766"/>
            <a:ext cx="308967" cy="3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400"/>
              <a:buFont typeface="Gelasio"/>
              <a:buNone/>
            </a:pPr>
            <a:r>
              <a:rPr lang="en-US" sz="24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4</a:t>
            </a:r>
            <a:endParaRPr sz="2400" b="0" i="0" u="none" strike="noStrike" cap="none"/>
          </a:p>
        </p:txBody>
      </p:sp>
      <p:sp>
        <p:nvSpPr>
          <p:cNvPr id="227" name="Google Shape;227;p21"/>
          <p:cNvSpPr/>
          <p:nvPr/>
        </p:nvSpPr>
        <p:spPr>
          <a:xfrm>
            <a:off x="11775638" y="5781913"/>
            <a:ext cx="2141339" cy="643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2000"/>
              <a:buFont typeface="Gelasio"/>
              <a:buNone/>
            </a:pPr>
            <a:r>
              <a:rPr lang="en-US" sz="20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Beta Testing &amp; Final Report</a:t>
            </a:r>
            <a:endParaRPr sz="2000" b="0" i="0" u="none" strike="noStrike" cap="none"/>
          </a:p>
        </p:txBody>
      </p:sp>
      <p:sp>
        <p:nvSpPr>
          <p:cNvPr id="228" name="Google Shape;228;p21"/>
          <p:cNvSpPr/>
          <p:nvPr/>
        </p:nvSpPr>
        <p:spPr>
          <a:xfrm>
            <a:off x="11775638" y="6631543"/>
            <a:ext cx="2141339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600"/>
              <a:buFont typeface="Gelasio"/>
              <a:buNone/>
            </a:pPr>
            <a:r>
              <a:rPr lang="en-US" sz="16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Upcoming</a:t>
            </a:r>
            <a:endParaRPr sz="1600" b="0" i="0" u="none" strike="noStrike" cap="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671155" y="527328"/>
            <a:ext cx="9002078" cy="59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D8B6A4"/>
              </a:buClr>
              <a:buSzPts val="3750"/>
              <a:buFont typeface="Gelasio"/>
              <a:buNone/>
            </a:pPr>
            <a:r>
              <a:rPr lang="en-US" sz="3750" b="0" i="0" u="none" strike="noStrike" cap="none">
                <a:solidFill>
                  <a:srgbClr val="D8B6A4"/>
                </a:solidFill>
                <a:latin typeface="Gelasio"/>
                <a:ea typeface="Gelasio"/>
                <a:cs typeface="Gelasio"/>
                <a:sym typeface="Gelasio"/>
              </a:rPr>
              <a:t>Transforming Public Health Through Data</a:t>
            </a:r>
            <a:endParaRPr sz="3750" b="0" i="0" u="none" strike="noStrike" cap="none"/>
          </a:p>
        </p:txBody>
      </p:sp>
      <p:sp>
        <p:nvSpPr>
          <p:cNvPr id="235" name="Google Shape;235;p22"/>
          <p:cNvSpPr/>
          <p:nvPr/>
        </p:nvSpPr>
        <p:spPr>
          <a:xfrm>
            <a:off x="671155" y="1510070"/>
            <a:ext cx="13288089" cy="613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lang="en-US" sz="15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Project Swasthya represents a paradigm shift in environmental health monitoring, creating value for multiple stakeholders whilst maintaining the highest privacy standards.</a:t>
            </a:r>
            <a:endParaRPr sz="1500" b="0" i="0" u="none" strike="noStrike" cap="none"/>
          </a:p>
        </p:txBody>
      </p:sp>
      <p:sp>
        <p:nvSpPr>
          <p:cNvPr id="236" name="Google Shape;236;p22"/>
          <p:cNvSpPr/>
          <p:nvPr/>
        </p:nvSpPr>
        <p:spPr>
          <a:xfrm>
            <a:off x="671155" y="2339340"/>
            <a:ext cx="4301490" cy="2485311"/>
          </a:xfrm>
          <a:prstGeom prst="roundRect">
            <a:avLst>
              <a:gd name="adj" fmla="val 115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862846" y="2531031"/>
            <a:ext cx="575191" cy="575191"/>
          </a:xfrm>
          <a:prstGeom prst="roundRect">
            <a:avLst>
              <a:gd name="adj" fmla="val 15895738"/>
            </a:avLst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0961" y="2689146"/>
            <a:ext cx="258842" cy="258842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/>
          <p:nvPr/>
        </p:nvSpPr>
        <p:spPr>
          <a:xfrm>
            <a:off x="862846" y="3297912"/>
            <a:ext cx="2396966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lang="en-US" sz="18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Public Health Officials</a:t>
            </a:r>
            <a:endParaRPr sz="1850" b="0" i="0" u="none" strike="noStrike" cap="none"/>
          </a:p>
        </p:txBody>
      </p:sp>
      <p:sp>
        <p:nvSpPr>
          <p:cNvPr id="240" name="Google Shape;240;p22"/>
          <p:cNvSpPr/>
          <p:nvPr/>
        </p:nvSpPr>
        <p:spPr>
          <a:xfrm>
            <a:off x="862846" y="3712488"/>
            <a:ext cx="3918109" cy="92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lang="en-US" sz="15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Shift from reactive crisis management to proactive, data-driven prevention strategies with real-time intelligence.</a:t>
            </a:r>
            <a:endParaRPr sz="1500" b="0" i="0" u="none" strike="noStrike" cap="none"/>
          </a:p>
        </p:txBody>
      </p:sp>
      <p:sp>
        <p:nvSpPr>
          <p:cNvPr id="241" name="Google Shape;241;p22"/>
          <p:cNvSpPr/>
          <p:nvPr/>
        </p:nvSpPr>
        <p:spPr>
          <a:xfrm>
            <a:off x="5164336" y="2339340"/>
            <a:ext cx="4301609" cy="2485311"/>
          </a:xfrm>
          <a:prstGeom prst="roundRect">
            <a:avLst>
              <a:gd name="adj" fmla="val 115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5356027" y="2531031"/>
            <a:ext cx="575191" cy="575191"/>
          </a:xfrm>
          <a:prstGeom prst="roundRect">
            <a:avLst>
              <a:gd name="adj" fmla="val 15895738"/>
            </a:avLst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3" name="Google Shape;243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4142" y="2689146"/>
            <a:ext cx="258842" cy="25884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/>
          <p:nvPr/>
        </p:nvSpPr>
        <p:spPr>
          <a:xfrm>
            <a:off x="5356027" y="3297912"/>
            <a:ext cx="2396966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lang="en-US" sz="18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Citizens</a:t>
            </a:r>
            <a:endParaRPr sz="1850" b="0" i="0" u="none" strike="noStrike" cap="none"/>
          </a:p>
        </p:txBody>
      </p:sp>
      <p:sp>
        <p:nvSpPr>
          <p:cNvPr id="245" name="Google Shape;245;p22"/>
          <p:cNvSpPr/>
          <p:nvPr/>
        </p:nvSpPr>
        <p:spPr>
          <a:xfrm>
            <a:off x="5356027" y="3712488"/>
            <a:ext cx="3918228" cy="92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lang="en-US" sz="15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Contribute securely to community health protection whilst receiving personalised environmental health guidance.</a:t>
            </a:r>
            <a:endParaRPr sz="1500" b="0" i="0" u="none" strike="noStrike" cap="none"/>
          </a:p>
        </p:txBody>
      </p:sp>
      <p:sp>
        <p:nvSpPr>
          <p:cNvPr id="246" name="Google Shape;246;p22"/>
          <p:cNvSpPr/>
          <p:nvPr/>
        </p:nvSpPr>
        <p:spPr>
          <a:xfrm>
            <a:off x="9657636" y="2339340"/>
            <a:ext cx="4301609" cy="2485311"/>
          </a:xfrm>
          <a:prstGeom prst="roundRect">
            <a:avLst>
              <a:gd name="adj" fmla="val 1157"/>
            </a:avLst>
          </a:prstGeom>
          <a:solidFill>
            <a:srgbClr val="3734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9849326" y="2531031"/>
            <a:ext cx="575191" cy="575191"/>
          </a:xfrm>
          <a:prstGeom prst="roundRect">
            <a:avLst>
              <a:gd name="adj" fmla="val 15895738"/>
            </a:avLst>
          </a:prstGeom>
          <a:solidFill>
            <a:srgbClr val="C49F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8" name="Google Shape;248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07441" y="2689146"/>
            <a:ext cx="258842" cy="25884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/>
          <p:nvPr/>
        </p:nvSpPr>
        <p:spPr>
          <a:xfrm>
            <a:off x="9849326" y="3297912"/>
            <a:ext cx="2396966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027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850"/>
              <a:buFont typeface="Gelasio"/>
              <a:buNone/>
            </a:pPr>
            <a:r>
              <a:rPr lang="en-US" sz="185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Researchers</a:t>
            </a:r>
            <a:endParaRPr sz="1850" b="0" i="0" u="none" strike="noStrike" cap="none"/>
          </a:p>
        </p:txBody>
      </p:sp>
      <p:sp>
        <p:nvSpPr>
          <p:cNvPr id="250" name="Google Shape;250;p22"/>
          <p:cNvSpPr/>
          <p:nvPr/>
        </p:nvSpPr>
        <p:spPr>
          <a:xfrm>
            <a:off x="9849326" y="3712488"/>
            <a:ext cx="3918228" cy="92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lang="en-US" sz="15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Access unprecedented high-resolution environmental health dataset for advancing scientific understanding.</a:t>
            </a:r>
            <a:endParaRPr sz="1500" b="0" i="0" u="none" strike="noStrike" cap="none"/>
          </a:p>
        </p:txBody>
      </p:sp>
      <p:sp>
        <p:nvSpPr>
          <p:cNvPr id="251" name="Google Shape;251;p22"/>
          <p:cNvSpPr/>
          <p:nvPr/>
        </p:nvSpPr>
        <p:spPr>
          <a:xfrm>
            <a:off x="671155" y="5136077"/>
            <a:ext cx="13288089" cy="31552"/>
          </a:xfrm>
          <a:prstGeom prst="rect">
            <a:avLst/>
          </a:prstGeom>
          <a:solidFill>
            <a:srgbClr val="C9C2C0">
              <a:alpha val="4980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758450" y="5768849"/>
            <a:ext cx="13288200" cy="16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9C2C0"/>
              </a:buClr>
              <a:buSzPts val="1500"/>
              <a:buFont typeface="Gelasio"/>
              <a:buNone/>
            </a:pPr>
            <a:r>
              <a:rPr lang="en-US" sz="6200" b="0" i="0" u="none" strike="noStrike" cap="none">
                <a:solidFill>
                  <a:srgbClr val="C9C2C0"/>
                </a:solidFill>
                <a:latin typeface="Gelasio"/>
                <a:ea typeface="Gelasio"/>
                <a:cs typeface="Gelasio"/>
                <a:sym typeface="Gelasio"/>
              </a:rPr>
              <a:t>Thank you.</a:t>
            </a:r>
            <a:endParaRPr sz="6200" b="0" i="0" u="none" strike="noStrike" cap="non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Microsoft Office PowerPoint</Application>
  <PresentationFormat>Custom</PresentationFormat>
  <Paragraphs>114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Gelasio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Rohan Pawar</cp:lastModifiedBy>
  <cp:revision>1</cp:revision>
  <dcterms:modified xsi:type="dcterms:W3CDTF">2025-11-01T07:52:19Z</dcterms:modified>
</cp:coreProperties>
</file>