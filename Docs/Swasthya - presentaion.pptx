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4"/>
  </p:notesMasterIdLst>
  <p:handoutMasterIdLst>
    <p:handoutMasterId r:id="rId35"/>
  </p:handoutMasterIdLst>
  <p:sldIdLst>
    <p:sldId id="312" r:id="rId5"/>
    <p:sldId id="323" r:id="rId6"/>
    <p:sldId id="304" r:id="rId7"/>
    <p:sldId id="307" r:id="rId8"/>
    <p:sldId id="281" r:id="rId9"/>
    <p:sldId id="282" r:id="rId10"/>
    <p:sldId id="314" r:id="rId11"/>
    <p:sldId id="325" r:id="rId12"/>
    <p:sldId id="326" r:id="rId13"/>
    <p:sldId id="324" r:id="rId14"/>
    <p:sldId id="318" r:id="rId15"/>
    <p:sldId id="327" r:id="rId16"/>
    <p:sldId id="328" r:id="rId17"/>
    <p:sldId id="330" r:id="rId18"/>
    <p:sldId id="334" r:id="rId19"/>
    <p:sldId id="336" r:id="rId20"/>
    <p:sldId id="349" r:id="rId21"/>
    <p:sldId id="351" r:id="rId22"/>
    <p:sldId id="329" r:id="rId23"/>
    <p:sldId id="341" r:id="rId24"/>
    <p:sldId id="340" r:id="rId25"/>
    <p:sldId id="350" r:id="rId26"/>
    <p:sldId id="339" r:id="rId27"/>
    <p:sldId id="337" r:id="rId28"/>
    <p:sldId id="338" r:id="rId29"/>
    <p:sldId id="348" r:id="rId30"/>
    <p:sldId id="347" r:id="rId31"/>
    <p:sldId id="344" r:id="rId32"/>
    <p:sldId id="297" r:id="rId3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996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547AE-1CFD-1841-2584-DB798B57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D0017-BE53-8451-AFC2-553B4922F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A2EC0-78FA-C153-CBBA-90324744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965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2054942"/>
            <a:ext cx="6392421" cy="2586506"/>
          </a:xfrm>
        </p:spPr>
        <p:txBody>
          <a:bodyPr anchor="ctr"/>
          <a:lstStyle/>
          <a:p>
            <a:r>
              <a:rPr lang="en-US" dirty="0"/>
              <a:t>Project Swasthya: An Early-Warning System for Environmental Health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4AAE8-5F4C-ADAA-5B96-173754009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091" y="177902"/>
            <a:ext cx="31242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EBCC-E02C-DE1A-F436-FB5BE7EE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2" y="2075250"/>
            <a:ext cx="7574974" cy="818713"/>
          </a:xfrm>
        </p:spPr>
        <p:txBody>
          <a:bodyPr/>
          <a:lstStyle/>
          <a:p>
            <a:r>
              <a:rPr lang="en-US" dirty="0"/>
              <a:t>A Final Year Project By: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5FE00-D900-D6DE-4505-70B4007B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489" y="2893963"/>
            <a:ext cx="6583680" cy="3207344"/>
          </a:xfrm>
        </p:spPr>
        <p:txBody>
          <a:bodyPr/>
          <a:lstStyle/>
          <a:p>
            <a:r>
              <a:rPr lang="en-IN" dirty="0" err="1"/>
              <a:t>Ashpak</a:t>
            </a:r>
            <a:r>
              <a:rPr lang="en-IN" dirty="0"/>
              <a:t> Sheikh</a:t>
            </a:r>
          </a:p>
          <a:p>
            <a:r>
              <a:rPr lang="en-IN" dirty="0"/>
              <a:t>Mayur Patil</a:t>
            </a:r>
          </a:p>
          <a:p>
            <a:r>
              <a:rPr lang="en-IN" dirty="0"/>
              <a:t>Rohan Pawar</a:t>
            </a:r>
          </a:p>
          <a:p>
            <a:r>
              <a:rPr lang="en-IN" dirty="0"/>
              <a:t>Sarthak </a:t>
            </a:r>
            <a:r>
              <a:rPr lang="en-IN" dirty="0" err="1"/>
              <a:t>Zunjurke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6C97B-8E4C-9C8A-1D2F-D24823EF8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08DFDC-9E89-6E4E-93E2-CE3CC47CCB93}"/>
              </a:ext>
            </a:extLst>
          </p:cNvPr>
          <p:cNvSpPr txBox="1">
            <a:spLocks/>
          </p:cNvSpPr>
          <p:nvPr/>
        </p:nvSpPr>
        <p:spPr>
          <a:xfrm>
            <a:off x="526472" y="692943"/>
            <a:ext cx="7574974" cy="818713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Guide Name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AE8763-926F-5875-B4A1-D1061294EA43}"/>
              </a:ext>
            </a:extLst>
          </p:cNvPr>
          <p:cNvSpPr txBox="1">
            <a:spLocks/>
          </p:cNvSpPr>
          <p:nvPr/>
        </p:nvSpPr>
        <p:spPr>
          <a:xfrm>
            <a:off x="810489" y="1670320"/>
            <a:ext cx="6583680" cy="671853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Prof. Yogita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22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151418" cy="48058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0" y="1825328"/>
            <a:ext cx="8905009" cy="510540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Problem: The Critical Data Gap in Public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Our Vision: The Swasthya Solution &amp;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 Architecture: The 4-Layer Technical Blueprint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Software &amp; AI Design: UML, Class Diagrams &amp; The AI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Management: Roadmap, Security &amp;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Conclusion: Impact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-330759"/>
            <a:ext cx="11087100" cy="2294641"/>
          </a:xfrm>
        </p:spPr>
        <p:txBody>
          <a:bodyPr/>
          <a:lstStyle/>
          <a:p>
            <a:r>
              <a:rPr lang="en-US" dirty="0"/>
              <a:t>Problem Statement -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E78B4C-3213-C0C8-6FE8-13D628926EFD}"/>
              </a:ext>
            </a:extLst>
          </p:cNvPr>
          <p:cNvSpPr txBox="1">
            <a:spLocks/>
          </p:cNvSpPr>
          <p:nvPr/>
        </p:nvSpPr>
        <p:spPr>
          <a:xfrm>
            <a:off x="477982" y="1610591"/>
            <a:ext cx="10948043" cy="4190136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rising levels of air pollution are leading to a significant increase in respiratory and cardiovascular diseases, yet there is no integrated system connecting real-time air quality data with hospital or citizen health records. This lack of correlation prevents timely identification of health trends, weakens preventive healthcare strategies, and limits data-driven policy decisions. The key stakeholders affected include hospitals, environmental agencies, government health departments, and citizens, all of whom face delayed responses, inefficient planning, and reduced public awareness of pollution-related health impacts.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2E99BBF-6294-6C47-6B9E-1ECCBD24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9029700" cy="729961"/>
          </a:xfrm>
        </p:spPr>
        <p:txBody>
          <a:bodyPr/>
          <a:lstStyle/>
          <a:p>
            <a:r>
              <a:rPr lang="en-IN" dirty="0"/>
              <a:t>Our Vision &amp; Mission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6D722F1-8F58-F601-6526-314784F670E5}"/>
              </a:ext>
            </a:extLst>
          </p:cNvPr>
          <p:cNvSpPr txBox="1">
            <a:spLocks/>
          </p:cNvSpPr>
          <p:nvPr/>
        </p:nvSpPr>
        <p:spPr>
          <a:xfrm>
            <a:off x="1413163" y="1963882"/>
            <a:ext cx="10948043" cy="4190136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Vision:</a:t>
            </a:r>
            <a:br>
              <a:rPr lang="en-US" dirty="0"/>
            </a:br>
            <a:r>
              <a:rPr lang="en-US" dirty="0"/>
              <a:t>A future where every community proactively mitigates environmental health risks.</a:t>
            </a:r>
          </a:p>
          <a:p>
            <a:r>
              <a:rPr lang="en-US" dirty="0"/>
              <a:t>Project Mission:</a:t>
            </a:r>
            <a:br>
              <a:rPr lang="en-US" dirty="0"/>
            </a:br>
            <a:r>
              <a:rPr lang="en-US" dirty="0"/>
              <a:t>To build a privacy-first early-warning system that correlates hyper-local pollutants and real-time health data for actionable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 Meet the Team &amp; </a:t>
            </a:r>
            <a:r>
              <a:rPr lang="en-US" dirty="0" err="1"/>
              <a:t>Responsibilitieshe</a:t>
            </a:r>
            <a:r>
              <a:rPr lang="en-US" dirty="0"/>
              <a:t>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 lnSpcReduction="10000"/>
          </a:bodyPr>
          <a:lstStyle/>
          <a:p>
            <a:r>
              <a:rPr lang="en-IN" dirty="0" err="1"/>
              <a:t>Ashpak</a:t>
            </a:r>
            <a:r>
              <a:rPr lang="en-IN" dirty="0"/>
              <a:t> Sheikh – Deep Learning &amp; Data Engineering</a:t>
            </a:r>
            <a:br>
              <a:rPr lang="en-IN" dirty="0"/>
            </a:br>
            <a:r>
              <a:rPr lang="en-IN" dirty="0"/>
              <a:t>Lead on AI/ML model development, AWS data pipeline architecture, and Federated Learning strategy</a:t>
            </a:r>
          </a:p>
          <a:p>
            <a:r>
              <a:rPr lang="en-IN" dirty="0"/>
              <a:t>Mayur Patil – IoT &amp; Cloud</a:t>
            </a:r>
            <a:br>
              <a:rPr lang="en-IN" dirty="0"/>
            </a:br>
            <a:r>
              <a:rPr lang="en-IN" dirty="0"/>
              <a:t>Lead on hardware prototyping (ESP32 sensors), device-to-cloud integration (MQTT, IoT Core), and AWS infrastructure management</a:t>
            </a:r>
          </a:p>
          <a:p>
            <a:r>
              <a:rPr lang="en-IN" dirty="0"/>
              <a:t>Rohan Pawar – Full-Stack Development</a:t>
            </a:r>
            <a:br>
              <a:rPr lang="en-IN" dirty="0"/>
            </a:br>
            <a:r>
              <a:rPr lang="en-IN" dirty="0"/>
              <a:t>Lead on Health Official Dashboard (React), MERN backend (Node.js/Express), and data visualization</a:t>
            </a:r>
          </a:p>
          <a:p>
            <a:r>
              <a:rPr lang="en-IN" dirty="0"/>
              <a:t>Sarthak </a:t>
            </a:r>
            <a:r>
              <a:rPr lang="en-IN" dirty="0" err="1"/>
              <a:t>Zunjurke</a:t>
            </a:r>
            <a:r>
              <a:rPr lang="en-IN" dirty="0"/>
              <a:t> – Full-Stack Development</a:t>
            </a:r>
            <a:br>
              <a:rPr lang="en-IN" dirty="0"/>
            </a:br>
            <a:r>
              <a:rPr lang="en-IN" dirty="0"/>
              <a:t>Lead on Citizen PWA (React), Clinic Data Portal, and User Authentication (Cognito)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pPr algn="ctr"/>
            <a:r>
              <a:rPr lang="en-US" sz="4600" dirty="0"/>
              <a:t>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8EB4-4C4A-A45F-3751-6EE5BE3B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6607991" cy="1062471"/>
          </a:xfrm>
        </p:spPr>
        <p:txBody>
          <a:bodyPr/>
          <a:lstStyle/>
          <a:p>
            <a:r>
              <a:rPr lang="en-IN" dirty="0"/>
              <a:t>Detailed Project Objectives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B3C26-8B73-E176-E0F4-E7EC8A9A6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6873EA8-D5AE-0E41-1CED-C07B70485EB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4010891" y="3027057"/>
            <a:ext cx="73975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Hyper-Local Data Pipeline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Deploy IoT sensors (ESP32) for real-time PM2.5 and NO₂ data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Create AWS pipeline using IoT Core, Kinesis, and Lambda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Dual-Channel Health Data Architecture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Citizen PWA for private symptom data via Federated Learning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Secure clinic portal for verified aggregated data</a:t>
            </a:r>
          </a:p>
        </p:txBody>
      </p:sp>
    </p:spTree>
    <p:extLst>
      <p:ext uri="{BB962C8B-B14F-4D97-AF65-F5344CB8AC3E}">
        <p14:creationId xmlns:p14="http://schemas.microsoft.com/office/powerpoint/2010/main" val="198289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990DA-3BD9-1CE2-A15B-4C8553E2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0E1C-4637-03A3-0E2D-6AE97C00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6607991" cy="1062471"/>
          </a:xfrm>
        </p:spPr>
        <p:txBody>
          <a:bodyPr/>
          <a:lstStyle/>
          <a:p>
            <a:r>
              <a:rPr lang="en-IN" dirty="0"/>
              <a:t>Detailed Project Objectives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50E4E-195F-F389-3FD7-99B03BAA3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18EB8C7F-2E99-D2F5-C0B5-C39762071892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4011613" y="3719513"/>
            <a:ext cx="73961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Hybrid AI Engine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Federated Learning using Flower framework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Central Graph Transformer on Amazon SageMaker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Actionable Insights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Build interactive dashboard for officials and researchers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Visualize insights through maps, charts, and alert panels</a:t>
            </a:r>
          </a:p>
        </p:txBody>
      </p:sp>
    </p:spTree>
    <p:extLst>
      <p:ext uri="{BB962C8B-B14F-4D97-AF65-F5344CB8AC3E}">
        <p14:creationId xmlns:p14="http://schemas.microsoft.com/office/powerpoint/2010/main" val="1626212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9D93-31F7-2034-13AF-4823AAB4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Federated Learning (Simplified)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7236A0-4060-E898-AFA9-F701E215C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F5F21-DE6F-A3A2-4B09-FB734C2F6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6390968" cy="3720337"/>
          </a:xfrm>
        </p:spPr>
        <p:txBody>
          <a:bodyPr/>
          <a:lstStyle/>
          <a:p>
            <a:r>
              <a:rPr lang="en-US" dirty="0"/>
              <a:t>Central server sends model to user device</a:t>
            </a:r>
          </a:p>
          <a:p>
            <a:r>
              <a:rPr lang="en-US" dirty="0"/>
              <a:t>Model trains locally on private data</a:t>
            </a:r>
          </a:p>
          <a:p>
            <a:r>
              <a:rPr lang="en-US" dirty="0"/>
              <a:t>Only anonymous model updates are sent back</a:t>
            </a:r>
          </a:p>
          <a:p>
            <a:r>
              <a:rPr lang="en-US" dirty="0"/>
              <a:t>Server aggregates updates to improve the global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64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IN" dirty="0"/>
              <a:t>High-Level System Architecture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IN" dirty="0"/>
              <a:t>Inputs → Cloud Core → Outputs</a:t>
            </a:r>
          </a:p>
          <a:p>
            <a:r>
              <a:rPr lang="en-IN" dirty="0"/>
              <a:t>Data Sources: IoT Sensors, APIs, PWA, Clinics</a:t>
            </a:r>
          </a:p>
          <a:p>
            <a:r>
              <a:rPr lang="en-IN" dirty="0"/>
              <a:t>Cloud Core: AWS pipeline, databases, and AI engines</a:t>
            </a:r>
          </a:p>
          <a:p>
            <a:r>
              <a:rPr lang="en-IN" dirty="0"/>
              <a:t>Outputs: Dashboards and PWA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F8EE-4B15-A016-4F3A-CD732F84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Detailed Technical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BD6047-A2F3-B6AA-A02A-CD3628616D4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914400" y="2231923"/>
            <a:ext cx="10670644" cy="196645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4D44B-2E34-D105-43CE-BF462A578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26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9370-A67F-F1BA-1237-74BDDDDF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7BE0-C97C-9D8C-B235-322CC53A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 1 – Ingestion &amp; Streaming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2C696-D5E3-78AE-9365-226274591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B68A4F-BF26-6C2F-DC4E-61FA9DC5A19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• AWS IoT Core – MQTT-based data ingestion</a:t>
            </a:r>
            <a:br>
              <a:rPr lang="en-US" dirty="0"/>
            </a:br>
            <a:r>
              <a:rPr lang="en-US" dirty="0"/>
              <a:t>• Amazon Kinesis – Real-time buffering</a:t>
            </a:r>
            <a:br>
              <a:rPr lang="en-US" dirty="0"/>
            </a:br>
            <a:r>
              <a:rPr lang="en-US" dirty="0"/>
              <a:t>• AWS Lambda – Fetches and processes data from sensors and APIs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28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EFD3-BF40-6DEA-E3DA-9A0A431F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2 – Data Storage &amp; Warehousing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0B173-0651-366C-7832-A0E8D6B094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IN" dirty="0"/>
              <a:t>• Amazon Timestream – Time-series sensor data</a:t>
            </a:r>
            <a:br>
              <a:rPr lang="en-IN" dirty="0"/>
            </a:br>
            <a:r>
              <a:rPr lang="en-IN" dirty="0"/>
              <a:t>• Amazon S3 – Data lake for raw and processed data</a:t>
            </a:r>
            <a:br>
              <a:rPr lang="en-IN" dirty="0"/>
            </a:br>
            <a:r>
              <a:rPr lang="en-IN" dirty="0"/>
              <a:t>• Amazon RDS (PostgreSQL + </a:t>
            </a:r>
            <a:r>
              <a:rPr lang="en-IN" dirty="0" err="1"/>
              <a:t>PostGIS</a:t>
            </a:r>
            <a:r>
              <a:rPr lang="en-IN" dirty="0"/>
              <a:t>) – Metadata and geospatial storage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C4C5AB-47D8-A91C-EAEA-1547C3B63E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788F6-AC3C-2F5B-5496-57A49DFCA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793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C019-F244-7E04-6B23-645AD19A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7A13-79FA-4616-7692-CB4F95A4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3 – The AI Core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700C-FB86-D609-D97E-9AA8E4F8B00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• Federated Learning Orchestrator – Flower on EC2/ECS</a:t>
            </a:r>
            <a:br>
              <a:rPr lang="en-US" dirty="0"/>
            </a:br>
            <a:r>
              <a:rPr lang="en-US" dirty="0"/>
              <a:t>• Central Correlation Engine – Graph Transformer model on SageMaker</a:t>
            </a:r>
          </a:p>
          <a:p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7AB7249-943E-D8EE-C0CF-4E28B05337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4F2A1-6B58-7CBE-FAD5-7FDD89949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090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59ED-A527-B579-5834-79E80793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51DE-1FCF-5BAB-F1C7-00938C74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 4 – 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F790F-D6AD-E8F3-F7D9-8638E281E11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Citizen PWA and Health Dashboard built in React</a:t>
            </a:r>
            <a:br>
              <a:rPr lang="en-US" dirty="0"/>
            </a:br>
            <a:r>
              <a:rPr lang="en-US" dirty="0"/>
              <a:t>• Amazon API Gateway – Secure access layer</a:t>
            </a:r>
            <a:br>
              <a:rPr lang="en-US" dirty="0"/>
            </a:br>
            <a:r>
              <a:rPr lang="en-US" dirty="0"/>
              <a:t>• Amazon Cognito – Authentication and role-based access</a:t>
            </a:r>
          </a:p>
          <a:p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C980630-0994-7308-5312-A5B72A27AB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3F069-586D-EFC2-9443-08E6D4F33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5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D035-AD29-8317-32F0-D7F59AEA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4AC9-7081-0605-1EDF-1831599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anchor="b">
            <a:normAutofit/>
          </a:bodyPr>
          <a:lstStyle/>
          <a:p>
            <a:r>
              <a:rPr lang="en-IN" dirty="0"/>
              <a:t>Class Diagram </a:t>
            </a:r>
            <a:endParaRPr lang="en-IN"/>
          </a:p>
        </p:txBody>
      </p:sp>
      <p:pic>
        <p:nvPicPr>
          <p:cNvPr id="7" name="Picture Placeholder 6" descr="A diagram of a company&#10;&#10;AI-generated content may be incorrect.">
            <a:extLst>
              <a:ext uri="{FF2B5EF4-FFF2-40B4-BE49-F238E27FC236}">
                <a16:creationId xmlns:a16="http://schemas.microsoft.com/office/drawing/2014/main" id="{D9766AFF-3E02-6F77-F8EB-910D8BFADB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0731" r="2" b="21715"/>
          <a:stretch>
            <a:fillRect/>
          </a:stretch>
        </p:blipFill>
        <p:spPr>
          <a:xfrm>
            <a:off x="2887606" y="2051438"/>
            <a:ext cx="8848869" cy="4349363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A5E22-B423-A338-8265-0F200D73C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73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1642-3B3E-4B99-2AD5-6403D45C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4540-1506-AF5B-5281-934327B5A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04691A-116A-3C0D-6F04-B7920CDC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862" y="2316067"/>
            <a:ext cx="6074702" cy="3948557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500AB-DDBB-EFE0-B1E7-ED1483605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61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4B13-4C23-332F-DE9D-DC51F80F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AI Model – Graph Transformer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68CD-81F1-BF53-ED5A-248FCC68B4E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• Graph Neural Network models spatial relations</a:t>
            </a:r>
            <a:br>
              <a:rPr lang="en-US" dirty="0"/>
            </a:br>
            <a:r>
              <a:rPr lang="en-US" dirty="0"/>
              <a:t>• Transformer models time-series dependencies</a:t>
            </a:r>
            <a:br>
              <a:rPr lang="en-US" dirty="0"/>
            </a:br>
            <a:r>
              <a:rPr lang="en-US" dirty="0"/>
              <a:t>• Combined, they capture both space and time correlations</a:t>
            </a:r>
          </a:p>
          <a:p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275605-A7BE-ECFD-4AB6-2E451A6858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CCE5B-EBAB-4A62-0BD8-9576DABC2C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59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AE18-5DED-C3F3-5D81-5813C242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BB55-1A32-D693-6FC9-C66A8CCE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0FAE-48A9-C179-B2DA-DB2A767868B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Phase 1: Research &amp; Planning – Aug–Oct 2025 – Completed</a:t>
            </a:r>
            <a:br>
              <a:rPr lang="en-US" dirty="0"/>
            </a:br>
            <a:r>
              <a:rPr lang="en-US" dirty="0"/>
              <a:t>Phase 2: Core Implementation – Nov–Jan 2026 – In Progress</a:t>
            </a:r>
            <a:br>
              <a:rPr lang="en-US" dirty="0"/>
            </a:br>
            <a:r>
              <a:rPr lang="en-US" dirty="0"/>
              <a:t>Phase 3: AI Model Development – Feb–Mar 2026 – Upcoming</a:t>
            </a:r>
            <a:br>
              <a:rPr lang="en-US" dirty="0"/>
            </a:br>
            <a:r>
              <a:rPr lang="en-US" dirty="0"/>
              <a:t>Phase 4: Testing &amp; Finalizing – Apr–May 2026 – Upcoming</a:t>
            </a:r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D0D594-D281-94FF-EA32-031F40A777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5799F-8536-F3C7-478B-28C7B5D58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702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29736-4F67-0B6C-7FA3-F3D577CF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C1CF-3FEC-1E24-55B6-AA4887FD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anchor="b">
            <a:normAutofit/>
          </a:bodyPr>
          <a:lstStyle/>
          <a:p>
            <a:r>
              <a:rPr lang="en-IN" dirty="0"/>
              <a:t>Current Progress (Phase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5A8D-CD5A-0DB2-1106-49214664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IN" dirty="0"/>
              <a:t>November 2025: AWS setup, databases, ingestion pipeline</a:t>
            </a:r>
            <a:br>
              <a:rPr lang="en-IN" dirty="0"/>
            </a:br>
            <a:r>
              <a:rPr lang="en-IN" dirty="0"/>
              <a:t>December 2025: Backend API, dashboard, clinic portal</a:t>
            </a:r>
            <a:br>
              <a:rPr lang="en-IN" dirty="0"/>
            </a:br>
            <a:r>
              <a:rPr lang="en-IN" dirty="0"/>
              <a:t>January 2026: FL Server deployment, Citizen PWA testing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97C26-C9C1-1D4A-D8B7-42C7A194B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6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2172-FF04-0312-F778-160C1A01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DC5F-34D3-2891-C083-355F1B7B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199"/>
            <a:ext cx="10511627" cy="643193"/>
          </a:xfrm>
        </p:spPr>
        <p:txBody>
          <a:bodyPr anchor="b">
            <a:normAutofit/>
          </a:bodyPr>
          <a:lstStyle/>
          <a:p>
            <a:r>
              <a:rPr lang="en-US" dirty="0"/>
              <a:t>Component Diagram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844990-2E7F-C378-9BA8-77EF3EAE0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1185705"/>
            <a:ext cx="10118689" cy="5596932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49C6C-2FD3-3B43-BA17-7689DB826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49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DF87-5A36-E7F0-CE95-858E06D0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92EC-24D6-29FF-05CE-6362D829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6EC7-11F9-7301-CAE0-99C32FDB86F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IN" dirty="0"/>
              <a:t>Frontend – React, React-Leaflet, Chart.js</a:t>
            </a:r>
            <a:br>
              <a:rPr lang="en-IN" dirty="0"/>
            </a:br>
            <a:r>
              <a:rPr lang="en-IN" dirty="0"/>
              <a:t>Backend – Node.js, Express.js</a:t>
            </a:r>
            <a:br>
              <a:rPr lang="en-IN" dirty="0"/>
            </a:br>
            <a:r>
              <a:rPr lang="en-IN" dirty="0"/>
              <a:t>Cloud – AWS (IoT Core, Kinesis, Lambda, SageMaker, RDS, S3, Cognito)</a:t>
            </a:r>
            <a:br>
              <a:rPr lang="en-IN" dirty="0"/>
            </a:br>
            <a:r>
              <a:rPr lang="en-IN" dirty="0"/>
              <a:t>AI/ML – Python, TensorFlow.js, Graph Transformers</a:t>
            </a:r>
            <a:br>
              <a:rPr lang="en-IN" dirty="0"/>
            </a:br>
            <a:r>
              <a:rPr lang="en-IN" dirty="0"/>
              <a:t>Federated Learning – Flower</a:t>
            </a:r>
            <a:br>
              <a:rPr lang="en-IN" dirty="0"/>
            </a:br>
            <a:r>
              <a:rPr lang="en-IN" dirty="0"/>
              <a:t>IoT Hardware – ESP32</a:t>
            </a:r>
            <a:br>
              <a:rPr lang="en-IN" dirty="0"/>
            </a:br>
            <a:r>
              <a:rPr lang="en-IN" dirty="0"/>
              <a:t>Protocols – MQTT, HTTPS, </a:t>
            </a:r>
            <a:r>
              <a:rPr lang="en-IN" dirty="0" err="1"/>
              <a:t>gRPC</a:t>
            </a:r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92024C-7925-DE78-9010-0728B2F3EE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22C22-A9C0-47BC-7C4C-9BD95F172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903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D24A-0D96-B88F-450F-70B9C04A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8E8B-C5A1-21DF-77CA-5636D583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Quality &amp; Security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3A1C0-5CD6-1E57-475D-686C8F4421E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IN" dirty="0"/>
              <a:t>Pillar 1: Data Security – HTTPS/TLS, encrypted databases</a:t>
            </a:r>
            <a:br>
              <a:rPr lang="en-IN" dirty="0"/>
            </a:br>
            <a:r>
              <a:rPr lang="en-IN" dirty="0"/>
              <a:t>Pillar 2: Privacy by Design – Federated Learning, no personal data stored</a:t>
            </a:r>
            <a:br>
              <a:rPr lang="en-IN" dirty="0"/>
            </a:br>
            <a:r>
              <a:rPr lang="en-IN" dirty="0"/>
              <a:t>Pillar 3: Access Security – Cognito, RBAC for roles</a:t>
            </a:r>
            <a:br>
              <a:rPr lang="en-IN" dirty="0"/>
            </a:br>
            <a:r>
              <a:rPr lang="en-IN" dirty="0"/>
              <a:t>Pillar 4: Data Quality – Cross-verification with multiple sources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BB2D2F-3A3B-7FB8-6FFA-43EE03DFC2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62377-1D51-2247-12FB-EB8BA93E6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82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56C51-D379-A21F-C27F-C44D8E5C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2108-77E6-12DA-C46C-9178194C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DF84-F688-AF96-B529-9364A4E96D9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For Public Health Officials – Real-time insights, proactive decisions</a:t>
            </a:r>
            <a:br>
              <a:rPr lang="en-US" dirty="0"/>
            </a:br>
            <a:r>
              <a:rPr lang="en-US" dirty="0"/>
              <a:t>For Citizens – Private participation and awareness</a:t>
            </a:r>
            <a:br>
              <a:rPr lang="en-US" dirty="0"/>
            </a:br>
            <a:r>
              <a:rPr lang="en-US" dirty="0"/>
              <a:t>For Researchers – High-resolution, privacy-safe dataset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0825C4-D8B2-FBB1-00EC-12238F174D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72E26-7554-279C-A0F4-577E82DCF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405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0CCF-006E-7DA6-AAF0-6BD9FB527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B1DC-3337-2C18-AC9A-FAD10353D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5541-255D-38D5-417B-0F0CB96C340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Data Noise – Multi-source triangulation</a:t>
            </a:r>
            <a:br>
              <a:rPr lang="en-US" dirty="0"/>
            </a:br>
            <a:r>
              <a:rPr lang="en-US" dirty="0"/>
              <a:t>Citizen Adoption – Privacy-first transparency</a:t>
            </a:r>
            <a:br>
              <a:rPr lang="en-US" dirty="0"/>
            </a:br>
            <a:r>
              <a:rPr lang="en-US" dirty="0"/>
              <a:t>Sensor Maintenance – Automated Lambda health checks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EF52E9-47AB-8DBD-6312-46E16C4303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A526D-30B1-225E-DBF6-F4CDC8FE4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70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9CEA-FF3D-CBA0-42DF-3F0970CA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6EC3-FEB3-D5DF-D5C0-77404C93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7F89D-8F6A-45E2-A30F-2A88FDDBF1D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• Scale network across Pune region</a:t>
            </a:r>
            <a:br>
              <a:rPr lang="en-US" dirty="0"/>
            </a:br>
            <a:r>
              <a:rPr lang="en-US" dirty="0"/>
              <a:t>• Refine AI with causal inference models</a:t>
            </a:r>
            <a:br>
              <a:rPr lang="en-US" dirty="0"/>
            </a:br>
            <a:r>
              <a:rPr lang="en-US" dirty="0"/>
              <a:t>• Integrate with smart city dashboards</a:t>
            </a:r>
            <a:br>
              <a:rPr lang="en-US" dirty="0"/>
            </a:br>
            <a:r>
              <a:rPr lang="en-US" dirty="0"/>
              <a:t>• Add more proxy data (traffic, mobility)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81F4451-E7C9-7AE2-B221-62441A3F66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FFE74-6C96-1CDF-3FA1-85F6ACD69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309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4F02-59B5-A107-3713-71303847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CC30-69BC-8A48-7C61-14E76B85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E95A-DEA3-9026-676B-DDA91ED7C5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For Public Health Officials – Real-time insights, proactive decisions</a:t>
            </a:r>
            <a:br>
              <a:rPr lang="en-US" dirty="0"/>
            </a:br>
            <a:r>
              <a:rPr lang="en-US" dirty="0"/>
              <a:t>For Citizens – Private participation and awareness</a:t>
            </a:r>
            <a:br>
              <a:rPr lang="en-US" dirty="0"/>
            </a:br>
            <a:r>
              <a:rPr lang="en-US" dirty="0"/>
              <a:t>For Researchers – High-resolution, privacy-safe dataset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D54A243-E2D8-C00F-1317-53615EB305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A2DDA-DB41-DE10-B468-6AF3351C3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3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{AABCCE18-28DE-4A64-93C9-2ED06784115C}tf78438558_win32</Template>
  <TotalTime>74</TotalTime>
  <Words>1048</Words>
  <Application>Microsoft Office PowerPoint</Application>
  <PresentationFormat>Widescreen</PresentationFormat>
  <Paragraphs>98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Calibri</vt:lpstr>
      <vt:lpstr>Sabon Next LT</vt:lpstr>
      <vt:lpstr>Custom</vt:lpstr>
      <vt:lpstr>Project Swasthya: An Early-Warning System for Environmental Health</vt:lpstr>
      <vt:lpstr>A Final Year Project By:</vt:lpstr>
      <vt:lpstr>agenda</vt:lpstr>
      <vt:lpstr>Problem Statement - </vt:lpstr>
      <vt:lpstr>Our Vision &amp; Mission</vt:lpstr>
      <vt:lpstr>Engaging t Meet the Team &amp; Responsibilitieshe audience</vt:lpstr>
      <vt:lpstr> Objectives </vt:lpstr>
      <vt:lpstr>Detailed Project Objectives (1/2)</vt:lpstr>
      <vt:lpstr>Detailed Project Objectives (2/2)</vt:lpstr>
      <vt:lpstr>What is Federated Learning (Simplified)</vt:lpstr>
      <vt:lpstr>High-Level System Architecture</vt:lpstr>
      <vt:lpstr>Detailed Technical Architecture</vt:lpstr>
      <vt:lpstr>Layer 1 – Ingestion &amp; Streaming</vt:lpstr>
      <vt:lpstr>Layer 2 – Data Storage &amp; Warehousing</vt:lpstr>
      <vt:lpstr>Layer 3 – The AI Core</vt:lpstr>
      <vt:lpstr>Layer 4 – Presentation Layer</vt:lpstr>
      <vt:lpstr>Class Diagram </vt:lpstr>
      <vt:lpstr>Er Diagram</vt:lpstr>
      <vt:lpstr>The AI Model – Graph Transformer</vt:lpstr>
      <vt:lpstr>Project Roadmap</vt:lpstr>
      <vt:lpstr>Current Progress (Phase 2)</vt:lpstr>
      <vt:lpstr>Component Diagram</vt:lpstr>
      <vt:lpstr>Technology Stack</vt:lpstr>
      <vt:lpstr>Quality &amp; Security Framework</vt:lpstr>
      <vt:lpstr>Expected Impact</vt:lpstr>
      <vt:lpstr>Challenges &amp; Mitigation</vt:lpstr>
      <vt:lpstr>Future Work</vt:lpstr>
      <vt:lpstr>Expected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 Pawar</dc:creator>
  <cp:lastModifiedBy>Rohan Pawar</cp:lastModifiedBy>
  <cp:revision>1</cp:revision>
  <dcterms:created xsi:type="dcterms:W3CDTF">2025-11-01T06:38:13Z</dcterms:created>
  <dcterms:modified xsi:type="dcterms:W3CDTF">2025-11-12T18:09:16Z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